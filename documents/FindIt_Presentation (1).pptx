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[Your Name], and along with my teammate [Partner's Name], we're presenting our project for CSE 4106, Software Development Lab-1, here at Kishoreganj University. Our project is called FindIt, a centralized, smart Lost &amp; Found Management System, built on ASP.NET Core MVC. Over the next few minutes we'll walk you through the problem we're solving, how we're solving it, and our plan to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FindIt exists. Losing personal belongings, a wallet, a phone, a laptop, an ID card, is something almost everyone has experienced, especially in busy places like universities, offices, and transit hubs. Right now recovery depends on scattered Facebook posts, WhatsApp groups, or a paper notice board, which are inefficient. FindIt solves this by centralizing the process into one web platform: report a lost or found item, search an organized database, message securely, and submit ownership claims. The real innovation is the smart matching engine, which automatically compares lost and found reports by category, location, and date and recommends likely matches. Our goal: make recovery faster, more transparent, and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this matters, let's break down what's wrong with the current approach, four core problems. First, Fragmentation: information is spread across disconnected platforms, so losers and finders almost never end up in the same place. Second, Low Visibility: a notice board only reaches people walking past it, and social posts get buried fast. Third, Lack of Verification: there's no secure way to confirm a claimant actually owns an item. Fourth, Inefficiency: scrolling through unorganized posts is slow, with no automated way to connect a new report with an existing one. These four gaps are exactly what FindIt is designed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those problems, here's what we set out to achieve, four clear objectives. One, build a centralized, web-based platform using ASP.NET Core MVC where all reporting happens in one place. Two, implement a smart matching algorithm, a weighted system connecting lost items with found ones by category, location, and date. Three, protect user trust and privacy through secure in-app messaging and structured claim verification, so personal details stay private until both sides agree to meet. Four, make the experience fast and intuitive with a mobile-responsive interface that minimizes time and effort to reunite people with belongings.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needs clear boundaries, so let's talk about scope, what version one will include and what it won't. In-scope: a responsive web app with role-based access for Admins and Registered Users; secure registration and login via ASP.NET Core Identity; modules for reporting lost or found items with image uploads and categorization; the smart matching engine with automated notifications; a secure claiming workflow requiring proof of ownership; and an admin dashboard for moderation and dispute resolution. Out-of-scope for this version: native iOS or Android apps, since the web app is mobile-responsive instead; physical IoT trackers like RFID or Bluetooth tags; and monetary rewards or a payment system. These are deliberate trade-offs to keep the first release focused, and things we can revisit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we're actually going to build this. We're following the Agile methodology, iterative progress with continuous testing. For architecture, we're using the Model-View-Controller pattern, which cleanly separates application logic, UI, and data models. For the backend, ASP.NET Core on .NET 8, with C# handling server-side logic. Our database is Microsoft SQL Server, managed through Entity Framework Core using a Code-First approach, covering Users, Items, Claims, and Messages. On the frontend, Razor Views along with HTML5, CSS3, Bootstrap 5, and JavaScript with AJAX for a dynamic experience. And finally, the matching logic, a weighted scoring algorithm that runs on submission, comparing tags and attributes to suggest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we're planning to spread that work out, a 10-week development schedule. We start with Requirement Analysis and the SRS in week one, then System Design, ERD, use cases, and UI wireframes, across weeks one and two. From there, database setup and the ASP.NET project in weeks two and three, followed by Authentication and User Management in weeks three and four. The core Lost &amp; Found Reporting module comes in weeks four and five, and Search, Filtering, and Notifications follow in weeks five and six. The Smart Matching Algorithm, our key differentiator, is built in weeks six and seven, followed by Claim Management and Messaging in weeks seven and eight. We wrap up with the Admin Dashboard and Reports in weeks eight and nine, and finish with Testing, Deployment, and Documentation in the final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strengths of this project is that it's essentially free to build. Every tool in our stack, Visual Studio Community Edition, SQL Server Express, Git and GitHub, Bootstrap 5, Leaflet.js with OpenStreetMap, Chart.js, SQL Server Management Studio, and local testing through IIS Express or Kestrel, is open-source or free-tier. That brings our total development cost to zero dollars for a full year of operation. No licenses, no hosting fees, no physical materials, so our budget risk for this project is effectively nonexistent.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no project is risk-free, so we've identified four key risks and how we plan to handle each. Low User Adoption: if the platform doesn't reach critical mass, items may go unmatched, so we're mitigating with an intuitive UI, guest browsing, and a planned partnership with campus security. False Claims or Fraud: someone might claim an item that isn't theirs, so the finder approves each claim based on hidden identifiers only the true owner would know, and admins can override in disputes. Data Privacy Breach: we handle this with secure password hashing, enforced HTTPS, and in-app messaging so personal details stay private until users agree to meet. Technical Performance: as the database grows the matching algorithm could slow down, so we're using optimized SQL queries, indexing, and asynchronous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FindIt is a modern, practical solution to a problem almost everyone deals with at some point. By replacing scattered social media posts and physical notice boards with one centralized, intelligent platform built on ASP.NET Core MVC, we believe this project can dramatically improve the odds of people actually getting their belongings back. The smart matching engine and secure claim verification process aren't just technical features, they're what make the system genuinely useful and trustworthy. With the right development and deployment, we think FindIt has real potential to become a standard utility for universities, offices, and public spaces well beyond our campus. Thank you,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35"/>
        </a:solidFill>
      </p:bgPr>
    </p:bg>
    <p:spTree>
      <p:nvGrpSpPr>
        <p:cNvPr id="1" name=""/>
        <p:cNvGrpSpPr/>
        <p:nvPr/>
      </p:nvGrpSpPr>
      <p:grpSpPr>
        <a:xfrm>
          <a:off x="0" y="0"/>
          <a:ext cx="0" cy="0"/>
          <a:chOff x="0" y="0"/>
          <a:chExt cx="0" cy="0"/>
        </a:xfrm>
      </p:grpSpPr>
      <p:sp>
        <p:nvSpPr>
          <p:cNvPr id="2" name="Shape 0"/>
          <p:cNvSpPr/>
          <p:nvPr/>
        </p:nvSpPr>
        <p:spPr>
          <a:xfrm>
            <a:off x="8778240" y="-1828800"/>
            <a:ext cx="6400800" cy="6400800"/>
          </a:xfrm>
          <a:prstGeom prst="ellipse">
            <a:avLst/>
          </a:prstGeom>
          <a:solidFill>
            <a:srgbClr val="028090">
              <a:alpha val="45000"/>
            </a:srgbClr>
          </a:solidFill>
          <a:ln/>
        </p:spPr>
      </p:sp>
      <p:sp>
        <p:nvSpPr>
          <p:cNvPr id="3" name="Shape 1"/>
          <p:cNvSpPr/>
          <p:nvPr/>
        </p:nvSpPr>
        <p:spPr>
          <a:xfrm>
            <a:off x="10241280" y="4206240"/>
            <a:ext cx="3840480" cy="3840480"/>
          </a:xfrm>
          <a:prstGeom prst="ellipse">
            <a:avLst/>
          </a:prstGeom>
          <a:solidFill>
            <a:srgbClr val="02C39A">
              <a:alpha val="40000"/>
            </a:srgbClr>
          </a:solidFill>
          <a:ln/>
        </p:spPr>
      </p:sp>
      <p:sp>
        <p:nvSpPr>
          <p:cNvPr id="4" name="Shape 2"/>
          <p:cNvSpPr/>
          <p:nvPr/>
        </p:nvSpPr>
        <p:spPr>
          <a:xfrm>
            <a:off x="-1280160" y="4846320"/>
            <a:ext cx="3657600" cy="3657600"/>
          </a:xfrm>
          <a:prstGeom prst="ellipse">
            <a:avLst/>
          </a:prstGeom>
          <a:solidFill>
            <a:srgbClr val="00A896">
              <a:alpha val="35000"/>
            </a:srgbClr>
          </a:solidFill>
          <a:ln/>
        </p:spPr>
      </p:sp>
      <p:sp>
        <p:nvSpPr>
          <p:cNvPr id="5" name="Text 3"/>
          <p:cNvSpPr/>
          <p:nvPr/>
        </p:nvSpPr>
        <p:spPr>
          <a:xfrm>
            <a:off x="640080" y="640080"/>
            <a:ext cx="73152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KISHOREGANJ UNIVERSITY  •  DEPT. OF CSE</a:t>
            </a:r>
            <a:endParaRPr lang="en-US" sz="1300" dirty="0"/>
          </a:p>
        </p:txBody>
      </p:sp>
      <p:sp>
        <p:nvSpPr>
          <p:cNvPr id="6" name="Shape 4"/>
          <p:cNvSpPr/>
          <p:nvPr/>
        </p:nvSpPr>
        <p:spPr>
          <a:xfrm>
            <a:off x="640080" y="1965960"/>
            <a:ext cx="960120" cy="960120"/>
          </a:xfrm>
          <a:prstGeom prst="ellipse">
            <a:avLst/>
          </a:prstGeom>
          <a:solidFill>
            <a:srgbClr val="028090"/>
          </a:solidFill>
          <a:ln/>
        </p:spPr>
      </p:sp>
      <p:pic>
        <p:nvPicPr>
          <p:cNvPr id="7" name="Image 0" descr="icon_search.png">    </p:cNvPr>
          <p:cNvPicPr>
            <a:picLocks noChangeAspect="1"/>
          </p:cNvPicPr>
          <p:nvPr/>
        </p:nvPicPr>
        <p:blipFill>
          <a:blip r:embed="rId1"/>
          <a:stretch>
            <a:fillRect/>
          </a:stretch>
        </p:blipFill>
        <p:spPr>
          <a:xfrm>
            <a:off x="859536" y="2185416"/>
            <a:ext cx="521208" cy="521208"/>
          </a:xfrm>
          <a:prstGeom prst="rect">
            <a:avLst/>
          </a:prstGeom>
        </p:spPr>
      </p:pic>
      <p:sp>
        <p:nvSpPr>
          <p:cNvPr id="8" name="Text 5"/>
          <p:cNvSpPr/>
          <p:nvPr/>
        </p:nvSpPr>
        <p:spPr>
          <a:xfrm>
            <a:off x="594360" y="3063240"/>
            <a:ext cx="7772400" cy="1188720"/>
          </a:xfrm>
          <a:prstGeom prst="rect">
            <a:avLst/>
          </a:prstGeom>
          <a:noFill/>
          <a:ln/>
        </p:spPr>
        <p:txBody>
          <a:bodyPr wrap="square"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FindIt</a:t>
            </a:r>
            <a:endParaRPr lang="en-US" sz="6400" dirty="0"/>
          </a:p>
        </p:txBody>
      </p:sp>
      <p:sp>
        <p:nvSpPr>
          <p:cNvPr id="9" name="Text 6"/>
          <p:cNvSpPr/>
          <p:nvPr/>
        </p:nvSpPr>
        <p:spPr>
          <a:xfrm>
            <a:off x="640080" y="4160520"/>
            <a:ext cx="7589520" cy="548640"/>
          </a:xfrm>
          <a:prstGeom prst="rect">
            <a:avLst/>
          </a:prstGeom>
          <a:noFill/>
          <a:ln/>
        </p:spPr>
        <p:txBody>
          <a:bodyPr wrap="square" rtlCol="0" anchor="ctr"/>
          <a:lstStyle/>
          <a:p>
            <a:pPr indent="0" marL="0">
              <a:buNone/>
            </a:pPr>
            <a:r>
              <a:rPr lang="en-US" sz="1900" dirty="0">
                <a:solidFill>
                  <a:srgbClr val="F4F9F8"/>
                </a:solidFill>
                <a:latin typeface="Calibri" pitchFamily="34" charset="0"/>
                <a:ea typeface="Calibri" pitchFamily="34" charset="-122"/>
                <a:cs typeface="Calibri" pitchFamily="34" charset="-120"/>
              </a:rPr>
              <a:t>A Centralized Smart Lost &amp; Found Management System</a:t>
            </a:r>
            <a:endParaRPr lang="en-US" sz="1900" dirty="0"/>
          </a:p>
        </p:txBody>
      </p:sp>
      <p:sp>
        <p:nvSpPr>
          <p:cNvPr id="10" name="Text 7"/>
          <p:cNvSpPr/>
          <p:nvPr/>
        </p:nvSpPr>
        <p:spPr>
          <a:xfrm>
            <a:off x="640080" y="4663440"/>
            <a:ext cx="7589520" cy="365760"/>
          </a:xfrm>
          <a:prstGeom prst="rect">
            <a:avLst/>
          </a:prstGeom>
          <a:noFill/>
          <a:ln/>
        </p:spPr>
        <p:txBody>
          <a:bodyPr wrap="square" rtlCol="0" anchor="ctr"/>
          <a:lstStyle/>
          <a:p>
            <a:pPr indent="0" marL="0">
              <a:buNone/>
            </a:pPr>
            <a:r>
              <a:rPr lang="en-US" sz="1300" i="1" dirty="0">
                <a:solidFill>
                  <a:srgbClr val="00A896"/>
                </a:solidFill>
                <a:latin typeface="Calibri" pitchFamily="34" charset="0"/>
                <a:ea typeface="Calibri" pitchFamily="34" charset="-122"/>
                <a:cs typeface="Calibri" pitchFamily="34" charset="-120"/>
              </a:rPr>
              <a:t>Built on ASP.NET Core MVC — reuniting people with what they've lost</a:t>
            </a:r>
            <a:endParaRPr lang="en-US" sz="1300" dirty="0"/>
          </a:p>
        </p:txBody>
      </p:sp>
      <p:sp>
        <p:nvSpPr>
          <p:cNvPr id="11" name="Shape 8"/>
          <p:cNvSpPr/>
          <p:nvPr/>
        </p:nvSpPr>
        <p:spPr>
          <a:xfrm>
            <a:off x="640080" y="5623560"/>
            <a:ext cx="7863840" cy="914400"/>
          </a:xfrm>
          <a:prstGeom prst="roundRect">
            <a:avLst>
              <a:gd name="adj" fmla="val 8000"/>
            </a:avLst>
          </a:prstGeom>
          <a:solidFill>
            <a:srgbClr val="FFFFFF">
              <a:alpha val="8000"/>
            </a:srgbClr>
          </a:solidFill>
          <a:ln w="12700">
            <a:solidFill>
              <a:srgbClr val="FFFFFF">
                <a:alpha val="25000"/>
              </a:srgbClr>
            </a:solidFill>
            <a:prstDash val="solid"/>
          </a:ln>
        </p:spPr>
      </p:sp>
      <p:sp>
        <p:nvSpPr>
          <p:cNvPr id="12" name="Text 9"/>
          <p:cNvSpPr/>
          <p:nvPr/>
        </p:nvSpPr>
        <p:spPr>
          <a:xfrm>
            <a:off x="868680" y="5742432"/>
            <a:ext cx="7406640" cy="292608"/>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Course: </a:t>
            </a:r>
            <a:pPr indent="0" marL="0">
              <a:buNone/>
            </a:pPr>
            <a:r>
              <a:rPr lang="en-US" sz="1200" dirty="0">
                <a:solidFill>
                  <a:srgbClr val="FFFFFF"/>
                </a:solidFill>
                <a:latin typeface="Calibri" pitchFamily="34" charset="0"/>
                <a:ea typeface="Calibri" pitchFamily="34" charset="-122"/>
                <a:cs typeface="Calibri" pitchFamily="34" charset="-120"/>
              </a:rPr>
              <a:t>CSE 4106 — Software Development Lab-1    </a:t>
            </a:r>
            <a:pPr indent="0" marL="0">
              <a:buNone/>
            </a:pPr>
            <a:r>
              <a:rPr lang="en-US" sz="1200" b="1" dirty="0">
                <a:solidFill>
                  <a:srgbClr val="02C39A"/>
                </a:solidFill>
                <a:latin typeface="Calibri" pitchFamily="34" charset="0"/>
                <a:ea typeface="Calibri" pitchFamily="34" charset="-122"/>
                <a:cs typeface="Calibri" pitchFamily="34" charset="-120"/>
              </a:rPr>
              <a:t>Session: </a:t>
            </a:r>
            <a:pPr indent="0" marL="0">
              <a:buNone/>
            </a:pPr>
            <a:r>
              <a:rPr lang="en-US" sz="1200" dirty="0">
                <a:solidFill>
                  <a:srgbClr val="FFFFFF"/>
                </a:solidFill>
                <a:latin typeface="Calibri" pitchFamily="34" charset="0"/>
                <a:ea typeface="Calibri" pitchFamily="34" charset="-122"/>
                <a:cs typeface="Calibri" pitchFamily="34" charset="-120"/>
              </a:rPr>
              <a:t>2021–2022</a:t>
            </a:r>
            <a:endParaRPr lang="en-US" sz="1200" dirty="0"/>
          </a:p>
        </p:txBody>
      </p:sp>
      <p:sp>
        <p:nvSpPr>
          <p:cNvPr id="13" name="Text 10"/>
          <p:cNvSpPr/>
          <p:nvPr/>
        </p:nvSpPr>
        <p:spPr>
          <a:xfrm>
            <a:off x="868680" y="6089904"/>
            <a:ext cx="740664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Md. Sabbir Mia</a:t>
            </a:r>
            <a:pPr indent="0" marL="0">
              <a:buNone/>
            </a:pPr>
            <a:r>
              <a:rPr lang="en-US" sz="1200" dirty="0">
                <a:solidFill>
                  <a:srgbClr val="F4F9F8"/>
                </a:solidFill>
                <a:latin typeface="Calibri" pitchFamily="34" charset="0"/>
                <a:ea typeface="Calibri" pitchFamily="34" charset="-122"/>
                <a:cs typeface="Calibri" pitchFamily="34" charset="-120"/>
              </a:rPr>
              <a:t>  (202122104017)   •   </a:t>
            </a:r>
            <a:pPr indent="0" marL="0">
              <a:buNone/>
            </a:pPr>
            <a:r>
              <a:rPr lang="en-US" sz="1200" b="1" dirty="0">
                <a:solidFill>
                  <a:srgbClr val="FFFFFF"/>
                </a:solidFill>
                <a:latin typeface="Calibri" pitchFamily="34" charset="0"/>
                <a:ea typeface="Calibri" pitchFamily="34" charset="-122"/>
                <a:cs typeface="Calibri" pitchFamily="34" charset="-120"/>
              </a:rPr>
              <a:t>Saimon Islam</a:t>
            </a:r>
            <a:pPr indent="0" marL="0">
              <a:buNone/>
            </a:pPr>
            <a:r>
              <a:rPr lang="en-US" sz="1200" dirty="0">
                <a:solidFill>
                  <a:srgbClr val="F4F9F8"/>
                </a:solidFill>
                <a:latin typeface="Calibri" pitchFamily="34" charset="0"/>
                <a:ea typeface="Calibri" pitchFamily="34" charset="-122"/>
                <a:cs typeface="Calibri" pitchFamily="34" charset="-120"/>
              </a:rPr>
              <a:t>  (202122104027)</a:t>
            </a:r>
            <a:endParaRPr lang="en-US" sz="1200" dirty="0"/>
          </a:p>
        </p:txBody>
      </p:sp>
      <p:sp>
        <p:nvSpPr>
          <p:cNvPr id="14" name="Text 1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200" b="1" dirty="0">
                <a:solidFill>
                  <a:srgbClr val="1A2E35"/>
                </a:solidFill>
                <a:latin typeface="Cambria" pitchFamily="34" charset="0"/>
                <a:ea typeface="Cambria" pitchFamily="34" charset="-122"/>
                <a:cs typeface="Cambria" pitchFamily="34" charset="-120"/>
              </a:rPr>
              <a:t>Project Abstract</a:t>
            </a:r>
            <a:endParaRPr lang="en-US" sz="3200" dirty="0"/>
          </a:p>
        </p:txBody>
      </p:sp>
      <p:sp>
        <p:nvSpPr>
          <p:cNvPr id="3" name="Text 1"/>
          <p:cNvSpPr/>
          <p:nvPr/>
        </p:nvSpPr>
        <p:spPr>
          <a:xfrm>
            <a:off x="548640" y="960120"/>
            <a:ext cx="7315200" cy="320040"/>
          </a:xfrm>
          <a:prstGeom prst="rect">
            <a:avLst/>
          </a:prstGeom>
          <a:noFill/>
          <a:ln/>
        </p:spPr>
        <p:txBody>
          <a:bodyPr wrap="square" rtlCol="0" anchor="ctr"/>
          <a:lstStyle/>
          <a:p>
            <a:pPr indent="0" marL="0">
              <a:buNone/>
            </a:pPr>
            <a:r>
              <a:rPr lang="en-US" sz="1400" dirty="0">
                <a:solidFill>
                  <a:srgbClr val="5A7178"/>
                </a:solidFill>
                <a:latin typeface="Calibri" pitchFamily="34" charset="0"/>
                <a:ea typeface="Calibri" pitchFamily="34" charset="-122"/>
                <a:cs typeface="Calibri" pitchFamily="34" charset="-120"/>
              </a:rPr>
              <a:t>Why FindIt exists</a:t>
            </a:r>
            <a:endParaRPr lang="en-US" sz="1400" dirty="0"/>
          </a:p>
        </p:txBody>
      </p:sp>
      <p:sp>
        <p:nvSpPr>
          <p:cNvPr id="4" name="Text 2"/>
          <p:cNvSpPr/>
          <p:nvPr/>
        </p:nvSpPr>
        <p:spPr>
          <a:xfrm>
            <a:off x="548640" y="1508760"/>
            <a:ext cx="6492240" cy="1554480"/>
          </a:xfrm>
          <a:prstGeom prst="rect">
            <a:avLst/>
          </a:prstGeom>
          <a:noFill/>
          <a:ln/>
        </p:spPr>
        <p:txBody>
          <a:bodyPr wrap="square" rtlCol="0" anchor="ctr"/>
          <a:lstStyle/>
          <a:p>
            <a:pPr indent="0" marL="0">
              <a:lnSpc>
                <a:spcPct val="125000"/>
              </a:lnSpc>
              <a:buNone/>
            </a:pPr>
            <a:r>
              <a:rPr lang="en-US" sz="1400" dirty="0">
                <a:solidFill>
                  <a:srgbClr val="1A2E35"/>
                </a:solidFill>
                <a:latin typeface="Calibri" pitchFamily="34" charset="0"/>
                <a:ea typeface="Calibri" pitchFamily="34" charset="-122"/>
                <a:cs typeface="Calibri" pitchFamily="34" charset="-120"/>
              </a:rPr>
              <a:t>Losing personal belongings — wallets, phones, laptops, ID cards — is a common problem in high-traffic places like universities, offices, and transit hubs. Today's recovery relies on scattered social posts, chat groups, and notice boards, which rarely reunite owners with their items.</a:t>
            </a:r>
            <a:endParaRPr lang="en-US" sz="1400" dirty="0"/>
          </a:p>
        </p:txBody>
      </p:sp>
      <p:sp>
        <p:nvSpPr>
          <p:cNvPr id="5" name="Text 3"/>
          <p:cNvSpPr/>
          <p:nvPr/>
        </p:nvSpPr>
        <p:spPr>
          <a:xfrm>
            <a:off x="548640" y="3063240"/>
            <a:ext cx="6492240" cy="1554480"/>
          </a:xfrm>
          <a:prstGeom prst="rect">
            <a:avLst/>
          </a:prstGeom>
          <a:noFill/>
          <a:ln/>
        </p:spPr>
        <p:txBody>
          <a:bodyPr wrap="square" rtlCol="0" anchor="ctr"/>
          <a:lstStyle/>
          <a:p>
            <a:pPr indent="0" marL="0">
              <a:lnSpc>
                <a:spcPct val="125000"/>
              </a:lnSpc>
              <a:buNone/>
            </a:pPr>
            <a:r>
              <a:rPr lang="en-US" sz="1400" dirty="0">
                <a:solidFill>
                  <a:srgbClr val="1A2E35"/>
                </a:solidFill>
                <a:latin typeface="Calibri" pitchFamily="34" charset="0"/>
                <a:ea typeface="Calibri" pitchFamily="34" charset="-122"/>
                <a:cs typeface="Calibri" pitchFamily="34" charset="-120"/>
              </a:rPr>
              <a:t>FindIt is a centralized, web-based Lost &amp; Found Management System built with ASP.NET Core MVC. Users report lost or found items, search an organized database, message securely, and submit ownership claims — with a smart matching engine recommending likely pairs automatically.</a:t>
            </a:r>
            <a:endParaRPr lang="en-US" sz="1400" dirty="0"/>
          </a:p>
        </p:txBody>
      </p:sp>
      <p:sp>
        <p:nvSpPr>
          <p:cNvPr id="6" name="Shape 4"/>
          <p:cNvSpPr/>
          <p:nvPr/>
        </p:nvSpPr>
        <p:spPr>
          <a:xfrm>
            <a:off x="7360920" y="1508760"/>
            <a:ext cx="4251960" cy="4434840"/>
          </a:xfrm>
          <a:prstGeom prst="roundRect">
            <a:avLst>
              <a:gd name="adj" fmla="val 2581"/>
            </a:avLst>
          </a:prstGeom>
          <a:solidFill>
            <a:srgbClr val="F4F9F8"/>
          </a:solidFill>
          <a:ln/>
          <a:effectLst>
            <a:outerShdw sx="100000" sy="100000" kx="0" ky="0" algn="bl" rotWithShape="0" blurRad="101600" dist="38100" dir="5400000">
              <a:srgbClr val="000000">
                <a:alpha val="18000"/>
              </a:srgbClr>
            </a:outerShdw>
          </a:effectLst>
        </p:spPr>
      </p:sp>
      <p:sp>
        <p:nvSpPr>
          <p:cNvPr id="7" name="Text 5"/>
          <p:cNvSpPr/>
          <p:nvPr/>
        </p:nvSpPr>
        <p:spPr>
          <a:xfrm>
            <a:off x="7635240" y="1783080"/>
            <a:ext cx="3749040" cy="274320"/>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CORE INNOVATION</a:t>
            </a:r>
            <a:endParaRPr lang="en-US" sz="1100" dirty="0"/>
          </a:p>
        </p:txBody>
      </p:sp>
      <p:sp>
        <p:nvSpPr>
          <p:cNvPr id="8" name="Shape 6"/>
          <p:cNvSpPr/>
          <p:nvPr/>
        </p:nvSpPr>
        <p:spPr>
          <a:xfrm>
            <a:off x="7635240" y="2148840"/>
            <a:ext cx="777240" cy="777240"/>
          </a:xfrm>
          <a:prstGeom prst="ellipse">
            <a:avLst/>
          </a:prstGeom>
          <a:solidFill>
            <a:srgbClr val="028090"/>
          </a:solidFill>
          <a:ln/>
        </p:spPr>
      </p:sp>
      <p:pic>
        <p:nvPicPr>
          <p:cNvPr id="9" name="Image 0" descr="icon_search.png">    </p:cNvPr>
          <p:cNvPicPr>
            <a:picLocks noChangeAspect="1"/>
          </p:cNvPicPr>
          <p:nvPr/>
        </p:nvPicPr>
        <p:blipFill>
          <a:blip r:embed="rId1"/>
          <a:stretch>
            <a:fillRect/>
          </a:stretch>
        </p:blipFill>
        <p:spPr>
          <a:xfrm>
            <a:off x="7808976" y="2322576"/>
            <a:ext cx="429768" cy="429768"/>
          </a:xfrm>
          <a:prstGeom prst="rect">
            <a:avLst/>
          </a:prstGeom>
        </p:spPr>
      </p:pic>
      <p:sp>
        <p:nvSpPr>
          <p:cNvPr id="10" name="Text 7"/>
          <p:cNvSpPr/>
          <p:nvPr/>
        </p:nvSpPr>
        <p:spPr>
          <a:xfrm>
            <a:off x="7635240" y="3063240"/>
            <a:ext cx="3749040" cy="365760"/>
          </a:xfrm>
          <a:prstGeom prst="rect">
            <a:avLst/>
          </a:prstGeom>
          <a:noFill/>
          <a:ln/>
        </p:spPr>
        <p:txBody>
          <a:bodyPr wrap="square" rtlCol="0" anchor="ctr"/>
          <a:lstStyle/>
          <a:p>
            <a:pPr indent="0" marL="0">
              <a:buNone/>
            </a:pPr>
            <a:r>
              <a:rPr lang="en-US" sz="1700" b="1" dirty="0">
                <a:solidFill>
                  <a:srgbClr val="1A2E35"/>
                </a:solidFill>
                <a:latin typeface="Cambria" pitchFamily="34" charset="0"/>
                <a:ea typeface="Cambria" pitchFamily="34" charset="-122"/>
                <a:cs typeface="Cambria" pitchFamily="34" charset="-120"/>
              </a:rPr>
              <a:t>Smart Matching Engine</a:t>
            </a:r>
            <a:endParaRPr lang="en-US" sz="1700" dirty="0"/>
          </a:p>
        </p:txBody>
      </p:sp>
      <p:sp>
        <p:nvSpPr>
          <p:cNvPr id="11" name="Text 8"/>
          <p:cNvSpPr/>
          <p:nvPr/>
        </p:nvSpPr>
        <p:spPr>
          <a:xfrm>
            <a:off x="7635240" y="3456432"/>
            <a:ext cx="3703320" cy="1188720"/>
          </a:xfrm>
          <a:prstGeom prst="rect">
            <a:avLst/>
          </a:prstGeom>
          <a:noFill/>
          <a:ln/>
        </p:spPr>
        <p:txBody>
          <a:bodyPr wrap="square" rtlCol="0" anchor="ctr"/>
          <a:lstStyle/>
          <a:p>
            <a:pPr indent="0" marL="0">
              <a:lnSpc>
                <a:spcPct val="120000"/>
              </a:lnSpc>
              <a:buNone/>
            </a:pPr>
            <a:r>
              <a:rPr lang="en-US" sz="1250" dirty="0">
                <a:solidFill>
                  <a:srgbClr val="5A7178"/>
                </a:solidFill>
                <a:latin typeface="Calibri" pitchFamily="34" charset="0"/>
                <a:ea typeface="Calibri" pitchFamily="34" charset="-122"/>
                <a:cs typeface="Calibri" pitchFamily="34" charset="-120"/>
              </a:rPr>
              <a:t>Automatically recommends potential lost ↔ found matches based on item category, location, and date — turning a manual search into an intelligent recommendation.</a:t>
            </a:r>
            <a:endParaRPr lang="en-US" sz="1250" dirty="0"/>
          </a:p>
        </p:txBody>
      </p:sp>
      <p:sp>
        <p:nvSpPr>
          <p:cNvPr id="12" name="Shape 9"/>
          <p:cNvSpPr/>
          <p:nvPr/>
        </p:nvSpPr>
        <p:spPr>
          <a:xfrm>
            <a:off x="7635240" y="4754880"/>
            <a:ext cx="3703320" cy="0"/>
          </a:xfrm>
          <a:prstGeom prst="line">
            <a:avLst/>
          </a:prstGeom>
          <a:noFill/>
          <a:ln w="12700">
            <a:solidFill>
              <a:srgbClr val="00A896">
                <a:alpha val="60000"/>
              </a:srgbClr>
            </a:solidFill>
            <a:prstDash val="solid"/>
          </a:ln>
        </p:spPr>
      </p:sp>
      <p:sp>
        <p:nvSpPr>
          <p:cNvPr id="13" name="Text 10"/>
          <p:cNvSpPr/>
          <p:nvPr/>
        </p:nvSpPr>
        <p:spPr>
          <a:xfrm>
            <a:off x="7635240" y="4937760"/>
            <a:ext cx="3749040" cy="274320"/>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GOAL</a:t>
            </a:r>
            <a:endParaRPr lang="en-US" sz="1100" dirty="0"/>
          </a:p>
        </p:txBody>
      </p:sp>
      <p:sp>
        <p:nvSpPr>
          <p:cNvPr id="14" name="Text 11"/>
          <p:cNvSpPr/>
          <p:nvPr/>
        </p:nvSpPr>
        <p:spPr>
          <a:xfrm>
            <a:off x="7635240" y="5230368"/>
            <a:ext cx="3703320" cy="640080"/>
          </a:xfrm>
          <a:prstGeom prst="rect">
            <a:avLst/>
          </a:prstGeom>
          <a:noFill/>
          <a:ln/>
        </p:spPr>
        <p:txBody>
          <a:bodyPr wrap="square" rtlCol="0" anchor="ctr"/>
          <a:lstStyle/>
          <a:p>
            <a:pPr indent="0" marL="0">
              <a:lnSpc>
                <a:spcPct val="120000"/>
              </a:lnSpc>
              <a:buNone/>
            </a:pPr>
            <a:r>
              <a:rPr lang="en-US" sz="1300" i="1" dirty="0">
                <a:solidFill>
                  <a:srgbClr val="1A2E35"/>
                </a:solidFill>
                <a:latin typeface="Calibri" pitchFamily="34" charset="0"/>
                <a:ea typeface="Calibri" pitchFamily="34" charset="-122"/>
                <a:cs typeface="Calibri" pitchFamily="34" charset="-120"/>
              </a:rPr>
              <a:t>Simplify recovery while improving transparency, efficiency, and user trust.</a:t>
            </a:r>
            <a:endParaRPr lang="en-US" sz="1300" dirty="0"/>
          </a:p>
        </p:txBody>
      </p:sp>
      <p:sp>
        <p:nvSpPr>
          <p:cNvPr id="15" name="Text 12"/>
          <p:cNvSpPr/>
          <p:nvPr/>
        </p:nvSpPr>
        <p:spPr>
          <a:xfrm>
            <a:off x="457200" y="6473952"/>
            <a:ext cx="4572000" cy="274320"/>
          </a:xfrm>
          <a:prstGeom prst="rect">
            <a:avLst/>
          </a:prstGeom>
          <a:noFill/>
          <a:ln/>
        </p:spPr>
        <p:txBody>
          <a:bodyPr wrap="square" rtlCol="0" anchor="ctr"/>
          <a:lstStyle/>
          <a:p>
            <a:pPr indent="0" marL="0">
              <a:buNone/>
            </a:pPr>
            <a:r>
              <a:rPr lang="en-US" sz="1000" i="1" dirty="0">
                <a:solidFill>
                  <a:srgbClr val="5A7178"/>
                </a:solidFill>
                <a:latin typeface="Calibri" pitchFamily="34" charset="0"/>
                <a:ea typeface="Calibri" pitchFamily="34" charset="-122"/>
                <a:cs typeface="Calibri" pitchFamily="34" charset="-120"/>
              </a:rPr>
              <a:t>FindIt — Project Proposal</a:t>
            </a:r>
            <a:endParaRPr lang="en-US" sz="1000" dirty="0"/>
          </a:p>
        </p:txBody>
      </p:sp>
      <p:sp>
        <p:nvSpPr>
          <p:cNvPr id="16" name="Text 1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35"/>
        </a:solidFill>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548640" y="960120"/>
            <a:ext cx="8229600" cy="320040"/>
          </a:xfrm>
          <a:prstGeom prst="rect">
            <a:avLst/>
          </a:prstGeom>
          <a:noFill/>
          <a:ln/>
        </p:spPr>
        <p:txBody>
          <a:bodyPr wrap="square" rtlCol="0" anchor="ctr"/>
          <a:lstStyle/>
          <a:p>
            <a:pPr indent="0" marL="0">
              <a:buNone/>
            </a:pPr>
            <a:r>
              <a:rPr lang="en-US" sz="1400" dirty="0">
                <a:solidFill>
                  <a:srgbClr val="00A896"/>
                </a:solidFill>
                <a:latin typeface="Calibri" pitchFamily="34" charset="0"/>
                <a:ea typeface="Calibri" pitchFamily="34" charset="-122"/>
                <a:cs typeface="Calibri" pitchFamily="34" charset="-120"/>
              </a:rPr>
              <a:t>Why current lost &amp; found methods fall short</a:t>
            </a:r>
            <a:endParaRPr lang="en-US" sz="1400" dirty="0"/>
          </a:p>
        </p:txBody>
      </p:sp>
      <p:sp>
        <p:nvSpPr>
          <p:cNvPr id="4" name="Shape 2"/>
          <p:cNvSpPr/>
          <p:nvPr/>
        </p:nvSpPr>
        <p:spPr>
          <a:xfrm>
            <a:off x="548640" y="1600200"/>
            <a:ext cx="2542032" cy="4297680"/>
          </a:xfrm>
          <a:prstGeom prst="roundRect">
            <a:avLst>
              <a:gd name="adj" fmla="val 3597"/>
            </a:avLst>
          </a:prstGeom>
          <a:solidFill>
            <a:srgbClr val="23383F"/>
          </a:solidFill>
          <a:ln/>
          <a:effectLst>
            <a:outerShdw sx="100000" sy="100000" kx="0" ky="0" algn="bl" rotWithShape="0" blurRad="127000" dist="50800" dir="5400000">
              <a:srgbClr val="000000">
                <a:alpha val="30000"/>
              </a:srgbClr>
            </a:outerShdw>
          </a:effectLst>
        </p:spPr>
      </p:sp>
      <p:sp>
        <p:nvSpPr>
          <p:cNvPr id="5" name="Shape 3"/>
          <p:cNvSpPr/>
          <p:nvPr/>
        </p:nvSpPr>
        <p:spPr>
          <a:xfrm>
            <a:off x="1408176" y="1965960"/>
            <a:ext cx="822960" cy="822960"/>
          </a:xfrm>
          <a:prstGeom prst="ellipse">
            <a:avLst/>
          </a:prstGeom>
          <a:solidFill>
            <a:srgbClr val="028090"/>
          </a:solidFill>
          <a:ln/>
        </p:spPr>
      </p:sp>
      <p:pic>
        <p:nvPicPr>
          <p:cNvPr id="6" name="Image 0" descr="icon_scatter.png">    </p:cNvPr>
          <p:cNvPicPr>
            <a:picLocks noChangeAspect="1"/>
          </p:cNvPicPr>
          <p:nvPr/>
        </p:nvPicPr>
        <p:blipFill>
          <a:blip r:embed="rId1"/>
          <a:stretch>
            <a:fillRect/>
          </a:stretch>
        </p:blipFill>
        <p:spPr>
          <a:xfrm>
            <a:off x="1591056" y="2148840"/>
            <a:ext cx="457200" cy="457200"/>
          </a:xfrm>
          <a:prstGeom prst="rect">
            <a:avLst/>
          </a:prstGeom>
        </p:spPr>
      </p:pic>
      <p:sp>
        <p:nvSpPr>
          <p:cNvPr id="7" name="Text 4"/>
          <p:cNvSpPr/>
          <p:nvPr/>
        </p:nvSpPr>
        <p:spPr>
          <a:xfrm>
            <a:off x="685800" y="3017520"/>
            <a:ext cx="2267712" cy="5486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Fragmentation</a:t>
            </a:r>
            <a:endParaRPr lang="en-US" sz="1600" dirty="0"/>
          </a:p>
        </p:txBody>
      </p:sp>
      <p:sp>
        <p:nvSpPr>
          <p:cNvPr id="8" name="Text 5"/>
          <p:cNvSpPr/>
          <p:nvPr/>
        </p:nvSpPr>
        <p:spPr>
          <a:xfrm>
            <a:off x="731520" y="3611880"/>
            <a:ext cx="2176272" cy="2011680"/>
          </a:xfrm>
          <a:prstGeom prst="rect">
            <a:avLst/>
          </a:prstGeom>
          <a:noFill/>
          <a:ln/>
        </p:spPr>
        <p:txBody>
          <a:bodyPr wrap="square" rtlCol="0" anchor="ctr"/>
          <a:lstStyle/>
          <a:p>
            <a:pPr algn="ctr" indent="0" marL="0">
              <a:lnSpc>
                <a:spcPct val="125000"/>
              </a:lnSpc>
              <a:buNone/>
            </a:pPr>
            <a:r>
              <a:rPr lang="en-US" sz="1200" dirty="0">
                <a:solidFill>
                  <a:srgbClr val="F4F9F8"/>
                </a:solidFill>
                <a:latin typeface="Calibri" pitchFamily="34" charset="0"/>
                <a:ea typeface="Calibri" pitchFamily="34" charset="-122"/>
                <a:cs typeface="Calibri" pitchFamily="34" charset="-120"/>
              </a:rPr>
              <a:t>Info is scattered across social groups and physical boards — losers and finders rarely connect.</a:t>
            </a:r>
            <a:endParaRPr lang="en-US" sz="1200" dirty="0"/>
          </a:p>
        </p:txBody>
      </p:sp>
      <p:sp>
        <p:nvSpPr>
          <p:cNvPr id="9" name="Shape 6"/>
          <p:cNvSpPr/>
          <p:nvPr/>
        </p:nvSpPr>
        <p:spPr>
          <a:xfrm>
            <a:off x="3346704" y="1600200"/>
            <a:ext cx="2542032" cy="4297680"/>
          </a:xfrm>
          <a:prstGeom prst="roundRect">
            <a:avLst>
              <a:gd name="adj" fmla="val 3597"/>
            </a:avLst>
          </a:prstGeom>
          <a:solidFill>
            <a:srgbClr val="23383F"/>
          </a:solidFill>
          <a:ln/>
          <a:effectLst>
            <a:outerShdw sx="100000" sy="100000" kx="0" ky="0" algn="bl" rotWithShape="0" blurRad="127000" dist="50800" dir="5400000">
              <a:srgbClr val="000000">
                <a:alpha val="30000"/>
              </a:srgbClr>
            </a:outerShdw>
          </a:effectLst>
        </p:spPr>
      </p:sp>
      <p:sp>
        <p:nvSpPr>
          <p:cNvPr id="10" name="Shape 7"/>
          <p:cNvSpPr/>
          <p:nvPr/>
        </p:nvSpPr>
        <p:spPr>
          <a:xfrm>
            <a:off x="4206240" y="1965960"/>
            <a:ext cx="822960" cy="822960"/>
          </a:xfrm>
          <a:prstGeom prst="ellipse">
            <a:avLst/>
          </a:prstGeom>
          <a:solidFill>
            <a:srgbClr val="028090"/>
          </a:solidFill>
          <a:ln/>
        </p:spPr>
      </p:sp>
      <p:pic>
        <p:nvPicPr>
          <p:cNvPr id="11" name="Image 1" descr="icon_eye.png">    </p:cNvPr>
          <p:cNvPicPr>
            <a:picLocks noChangeAspect="1"/>
          </p:cNvPicPr>
          <p:nvPr/>
        </p:nvPicPr>
        <p:blipFill>
          <a:blip r:embed="rId2"/>
          <a:stretch>
            <a:fillRect/>
          </a:stretch>
        </p:blipFill>
        <p:spPr>
          <a:xfrm>
            <a:off x="4389120" y="2148840"/>
            <a:ext cx="457200" cy="457200"/>
          </a:xfrm>
          <a:prstGeom prst="rect">
            <a:avLst/>
          </a:prstGeom>
        </p:spPr>
      </p:pic>
      <p:sp>
        <p:nvSpPr>
          <p:cNvPr id="12" name="Text 8"/>
          <p:cNvSpPr/>
          <p:nvPr/>
        </p:nvSpPr>
        <p:spPr>
          <a:xfrm>
            <a:off x="3483864" y="3017520"/>
            <a:ext cx="2267712" cy="5486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Low Visibility</a:t>
            </a:r>
            <a:endParaRPr lang="en-US" sz="1600" dirty="0"/>
          </a:p>
        </p:txBody>
      </p:sp>
      <p:sp>
        <p:nvSpPr>
          <p:cNvPr id="13" name="Text 9"/>
          <p:cNvSpPr/>
          <p:nvPr/>
        </p:nvSpPr>
        <p:spPr>
          <a:xfrm>
            <a:off x="3529584" y="3611880"/>
            <a:ext cx="2176272" cy="2011680"/>
          </a:xfrm>
          <a:prstGeom prst="rect">
            <a:avLst/>
          </a:prstGeom>
          <a:noFill/>
          <a:ln/>
        </p:spPr>
        <p:txBody>
          <a:bodyPr wrap="square" rtlCol="0" anchor="ctr"/>
          <a:lstStyle/>
          <a:p>
            <a:pPr algn="ctr" indent="0" marL="0">
              <a:lnSpc>
                <a:spcPct val="125000"/>
              </a:lnSpc>
              <a:buNone/>
            </a:pPr>
            <a:r>
              <a:rPr lang="en-US" sz="1200" dirty="0">
                <a:solidFill>
                  <a:srgbClr val="F4F9F8"/>
                </a:solidFill>
                <a:latin typeface="Calibri" pitchFamily="34" charset="0"/>
                <a:ea typeface="Calibri" pitchFamily="34" charset="-122"/>
                <a:cs typeface="Calibri" pitchFamily="34" charset="-120"/>
              </a:rPr>
              <a:t>Notice boards have limited reach; posts get buried fast in crowded social feeds.</a:t>
            </a:r>
            <a:endParaRPr lang="en-US" sz="1200" dirty="0"/>
          </a:p>
        </p:txBody>
      </p:sp>
      <p:sp>
        <p:nvSpPr>
          <p:cNvPr id="14" name="Shape 10"/>
          <p:cNvSpPr/>
          <p:nvPr/>
        </p:nvSpPr>
        <p:spPr>
          <a:xfrm>
            <a:off x="6144768" y="1600200"/>
            <a:ext cx="2542032" cy="4297680"/>
          </a:xfrm>
          <a:prstGeom prst="roundRect">
            <a:avLst>
              <a:gd name="adj" fmla="val 3597"/>
            </a:avLst>
          </a:prstGeom>
          <a:solidFill>
            <a:srgbClr val="23383F"/>
          </a:solidFill>
          <a:ln/>
          <a:effectLst>
            <a:outerShdw sx="100000" sy="100000" kx="0" ky="0" algn="bl" rotWithShape="0" blurRad="127000" dist="50800" dir="5400000">
              <a:srgbClr val="000000">
                <a:alpha val="30000"/>
              </a:srgbClr>
            </a:outerShdw>
          </a:effectLst>
        </p:spPr>
      </p:sp>
      <p:sp>
        <p:nvSpPr>
          <p:cNvPr id="15" name="Shape 11"/>
          <p:cNvSpPr/>
          <p:nvPr/>
        </p:nvSpPr>
        <p:spPr>
          <a:xfrm>
            <a:off x="7004304" y="1965960"/>
            <a:ext cx="822960" cy="822960"/>
          </a:xfrm>
          <a:prstGeom prst="ellipse">
            <a:avLst/>
          </a:prstGeom>
          <a:solidFill>
            <a:srgbClr val="028090"/>
          </a:solidFill>
          <a:ln/>
        </p:spPr>
      </p:sp>
      <p:pic>
        <p:nvPicPr>
          <p:cNvPr id="16" name="Image 2" descr="icon_shield.png">    </p:cNvPr>
          <p:cNvPicPr>
            <a:picLocks noChangeAspect="1"/>
          </p:cNvPicPr>
          <p:nvPr/>
        </p:nvPicPr>
        <p:blipFill>
          <a:blip r:embed="rId3"/>
          <a:stretch>
            <a:fillRect/>
          </a:stretch>
        </p:blipFill>
        <p:spPr>
          <a:xfrm>
            <a:off x="7187184" y="2148840"/>
            <a:ext cx="457200" cy="457200"/>
          </a:xfrm>
          <a:prstGeom prst="rect">
            <a:avLst/>
          </a:prstGeom>
        </p:spPr>
      </p:pic>
      <p:sp>
        <p:nvSpPr>
          <p:cNvPr id="17" name="Text 12"/>
          <p:cNvSpPr/>
          <p:nvPr/>
        </p:nvSpPr>
        <p:spPr>
          <a:xfrm>
            <a:off x="6281928" y="3017520"/>
            <a:ext cx="2267712" cy="5486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Lack of Verification</a:t>
            </a:r>
            <a:endParaRPr lang="en-US" sz="1600" dirty="0"/>
          </a:p>
        </p:txBody>
      </p:sp>
      <p:sp>
        <p:nvSpPr>
          <p:cNvPr id="18" name="Text 13"/>
          <p:cNvSpPr/>
          <p:nvPr/>
        </p:nvSpPr>
        <p:spPr>
          <a:xfrm>
            <a:off x="6327648" y="3611880"/>
            <a:ext cx="2176272" cy="2011680"/>
          </a:xfrm>
          <a:prstGeom prst="rect">
            <a:avLst/>
          </a:prstGeom>
          <a:noFill/>
          <a:ln/>
        </p:spPr>
        <p:txBody>
          <a:bodyPr wrap="square" rtlCol="0" anchor="ctr"/>
          <a:lstStyle/>
          <a:p>
            <a:pPr algn="ctr" indent="0" marL="0">
              <a:lnSpc>
                <a:spcPct val="125000"/>
              </a:lnSpc>
              <a:buNone/>
            </a:pPr>
            <a:r>
              <a:rPr lang="en-US" sz="1200" dirty="0">
                <a:solidFill>
                  <a:srgbClr val="F4F9F8"/>
                </a:solidFill>
                <a:latin typeface="Calibri" pitchFamily="34" charset="0"/>
                <a:ea typeface="Calibri" pitchFamily="34" charset="-122"/>
                <a:cs typeface="Calibri" pitchFamily="34" charset="-120"/>
              </a:rPr>
              <a:t>No secure way to confirm true ownership — items risk landing with the wrong person.</a:t>
            </a:r>
            <a:endParaRPr lang="en-US" sz="1200" dirty="0"/>
          </a:p>
        </p:txBody>
      </p:sp>
      <p:sp>
        <p:nvSpPr>
          <p:cNvPr id="19" name="Shape 14"/>
          <p:cNvSpPr/>
          <p:nvPr/>
        </p:nvSpPr>
        <p:spPr>
          <a:xfrm>
            <a:off x="8942832" y="1600200"/>
            <a:ext cx="2542032" cy="4297680"/>
          </a:xfrm>
          <a:prstGeom prst="roundRect">
            <a:avLst>
              <a:gd name="adj" fmla="val 3597"/>
            </a:avLst>
          </a:prstGeom>
          <a:solidFill>
            <a:srgbClr val="23383F"/>
          </a:solidFill>
          <a:ln/>
          <a:effectLst>
            <a:outerShdw sx="100000" sy="100000" kx="0" ky="0" algn="bl" rotWithShape="0" blurRad="127000" dist="50800" dir="5400000">
              <a:srgbClr val="000000">
                <a:alpha val="30000"/>
              </a:srgbClr>
            </a:outerShdw>
          </a:effectLst>
        </p:spPr>
      </p:sp>
      <p:sp>
        <p:nvSpPr>
          <p:cNvPr id="20" name="Shape 15"/>
          <p:cNvSpPr/>
          <p:nvPr/>
        </p:nvSpPr>
        <p:spPr>
          <a:xfrm>
            <a:off x="9802368" y="1965960"/>
            <a:ext cx="822960" cy="822960"/>
          </a:xfrm>
          <a:prstGeom prst="ellipse">
            <a:avLst/>
          </a:prstGeom>
          <a:solidFill>
            <a:srgbClr val="028090"/>
          </a:solidFill>
          <a:ln/>
        </p:spPr>
      </p:sp>
      <p:pic>
        <p:nvPicPr>
          <p:cNvPr id="21" name="Image 3" descr="icon_clock.png">    </p:cNvPr>
          <p:cNvPicPr>
            <a:picLocks noChangeAspect="1"/>
          </p:cNvPicPr>
          <p:nvPr/>
        </p:nvPicPr>
        <p:blipFill>
          <a:blip r:embed="rId4"/>
          <a:stretch>
            <a:fillRect/>
          </a:stretch>
        </p:blipFill>
        <p:spPr>
          <a:xfrm>
            <a:off x="9985248" y="2148840"/>
            <a:ext cx="457200" cy="457200"/>
          </a:xfrm>
          <a:prstGeom prst="rect">
            <a:avLst/>
          </a:prstGeom>
        </p:spPr>
      </p:pic>
      <p:sp>
        <p:nvSpPr>
          <p:cNvPr id="22" name="Text 16"/>
          <p:cNvSpPr/>
          <p:nvPr/>
        </p:nvSpPr>
        <p:spPr>
          <a:xfrm>
            <a:off x="9079992" y="3017520"/>
            <a:ext cx="2267712" cy="5486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Inefficiency</a:t>
            </a:r>
            <a:endParaRPr lang="en-US" sz="1600" dirty="0"/>
          </a:p>
        </p:txBody>
      </p:sp>
      <p:sp>
        <p:nvSpPr>
          <p:cNvPr id="23" name="Text 17"/>
          <p:cNvSpPr/>
          <p:nvPr/>
        </p:nvSpPr>
        <p:spPr>
          <a:xfrm>
            <a:off x="9125712" y="3611880"/>
            <a:ext cx="2176272" cy="2011680"/>
          </a:xfrm>
          <a:prstGeom prst="rect">
            <a:avLst/>
          </a:prstGeom>
          <a:noFill/>
          <a:ln/>
        </p:spPr>
        <p:txBody>
          <a:bodyPr wrap="square" rtlCol="0" anchor="ctr"/>
          <a:lstStyle/>
          <a:p>
            <a:pPr algn="ctr" indent="0" marL="0">
              <a:lnSpc>
                <a:spcPct val="125000"/>
              </a:lnSpc>
              <a:buNone/>
            </a:pPr>
            <a:r>
              <a:rPr lang="en-US" sz="1200" dirty="0">
                <a:solidFill>
                  <a:srgbClr val="F4F9F8"/>
                </a:solidFill>
                <a:latin typeface="Calibri" pitchFamily="34" charset="0"/>
                <a:ea typeface="Calibri" pitchFamily="34" charset="-122"/>
                <a:cs typeface="Calibri" pitchFamily="34" charset="-120"/>
              </a:rPr>
              <a:t>Manually scrolling unorganized posts wastes time; no automated matching exists.</a:t>
            </a:r>
            <a:endParaRPr lang="en-US" sz="1200" dirty="0"/>
          </a:p>
        </p:txBody>
      </p:sp>
      <p:sp>
        <p:nvSpPr>
          <p:cNvPr id="24"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200" b="1" dirty="0">
                <a:solidFill>
                  <a:srgbClr val="1A2E35"/>
                </a:solidFill>
                <a:latin typeface="Cambria" pitchFamily="34" charset="0"/>
                <a:ea typeface="Cambria" pitchFamily="34" charset="-122"/>
                <a:cs typeface="Cambria" pitchFamily="34" charset="-120"/>
              </a:rPr>
              <a:t>Objectives</a:t>
            </a:r>
            <a:endParaRPr lang="en-US" sz="3200" dirty="0"/>
          </a:p>
        </p:txBody>
      </p:sp>
      <p:sp>
        <p:nvSpPr>
          <p:cNvPr id="3" name="Text 1"/>
          <p:cNvSpPr/>
          <p:nvPr/>
        </p:nvSpPr>
        <p:spPr>
          <a:xfrm>
            <a:off x="548640" y="960120"/>
            <a:ext cx="7315200" cy="320040"/>
          </a:xfrm>
          <a:prstGeom prst="rect">
            <a:avLst/>
          </a:prstGeom>
          <a:noFill/>
          <a:ln/>
        </p:spPr>
        <p:txBody>
          <a:bodyPr wrap="square" rtlCol="0" anchor="ctr"/>
          <a:lstStyle/>
          <a:p>
            <a:pPr indent="0" marL="0">
              <a:buNone/>
            </a:pPr>
            <a:r>
              <a:rPr lang="en-US" sz="1400" dirty="0">
                <a:solidFill>
                  <a:srgbClr val="5A7178"/>
                </a:solidFill>
                <a:latin typeface="Calibri" pitchFamily="34" charset="0"/>
                <a:ea typeface="Calibri" pitchFamily="34" charset="-122"/>
                <a:cs typeface="Calibri" pitchFamily="34" charset="-120"/>
              </a:rPr>
              <a:t>What FindIt sets out to achieve</a:t>
            </a:r>
            <a:endParaRPr lang="en-US" sz="1400" dirty="0"/>
          </a:p>
        </p:txBody>
      </p:sp>
      <p:sp>
        <p:nvSpPr>
          <p:cNvPr id="4" name="Shape 2"/>
          <p:cNvSpPr/>
          <p:nvPr/>
        </p:nvSpPr>
        <p:spPr>
          <a:xfrm>
            <a:off x="548640" y="1554480"/>
            <a:ext cx="5257800" cy="2011680"/>
          </a:xfrm>
          <a:prstGeom prst="roundRect">
            <a:avLst>
              <a:gd name="adj" fmla="val 4545"/>
            </a:avLst>
          </a:prstGeom>
          <a:solidFill>
            <a:srgbClr val="F4F9F8"/>
          </a:solidFill>
          <a:ln/>
          <a:effectLst>
            <a:outerShdw sx="100000" sy="100000" kx="0" ky="0" algn="bl" rotWithShape="0" blurRad="101600" dist="38100" dir="5400000">
              <a:srgbClr val="000000">
                <a:alpha val="18000"/>
              </a:srgbClr>
            </a:outerShdw>
          </a:effectLst>
        </p:spPr>
      </p:sp>
      <p:sp>
        <p:nvSpPr>
          <p:cNvPr id="5" name="Shape 3"/>
          <p:cNvSpPr/>
          <p:nvPr/>
        </p:nvSpPr>
        <p:spPr>
          <a:xfrm>
            <a:off x="822960" y="1828800"/>
            <a:ext cx="777240" cy="777240"/>
          </a:xfrm>
          <a:prstGeom prst="ellipse">
            <a:avLst/>
          </a:prstGeom>
          <a:solidFill>
            <a:srgbClr val="00A896"/>
          </a:solidFill>
          <a:ln/>
        </p:spPr>
      </p:sp>
      <p:pic>
        <p:nvPicPr>
          <p:cNvPr id="6" name="Image 0" descr="icon_target1.png">    </p:cNvPr>
          <p:cNvPicPr>
            <a:picLocks noChangeAspect="1"/>
          </p:cNvPicPr>
          <p:nvPr/>
        </p:nvPicPr>
        <p:blipFill>
          <a:blip r:embed="rId1"/>
          <a:stretch>
            <a:fillRect/>
          </a:stretch>
        </p:blipFill>
        <p:spPr>
          <a:xfrm>
            <a:off x="996696" y="2002536"/>
            <a:ext cx="429768" cy="429768"/>
          </a:xfrm>
          <a:prstGeom prst="rect">
            <a:avLst/>
          </a:prstGeom>
        </p:spPr>
      </p:pic>
      <p:sp>
        <p:nvSpPr>
          <p:cNvPr id="7" name="Text 4"/>
          <p:cNvSpPr/>
          <p:nvPr/>
        </p:nvSpPr>
        <p:spPr>
          <a:xfrm>
            <a:off x="1783080" y="1810512"/>
            <a:ext cx="3794760" cy="365760"/>
          </a:xfrm>
          <a:prstGeom prst="rect">
            <a:avLst/>
          </a:prstGeom>
          <a:noFill/>
          <a:ln/>
        </p:spPr>
        <p:txBody>
          <a:bodyPr wrap="square" rtlCol="0" anchor="ctr"/>
          <a:lstStyle/>
          <a:p>
            <a:pPr indent="0" marL="0">
              <a:buNone/>
            </a:pPr>
            <a:r>
              <a:rPr lang="en-US" sz="1600" b="1" dirty="0">
                <a:solidFill>
                  <a:srgbClr val="1A2E35"/>
                </a:solidFill>
                <a:latin typeface="Cambria" pitchFamily="34" charset="0"/>
                <a:ea typeface="Cambria" pitchFamily="34" charset="-122"/>
                <a:cs typeface="Cambria" pitchFamily="34" charset="-120"/>
              </a:rPr>
              <a:t>Centralized Platform</a:t>
            </a:r>
            <a:endParaRPr lang="en-US" sz="1600" dirty="0"/>
          </a:p>
        </p:txBody>
      </p:sp>
      <p:sp>
        <p:nvSpPr>
          <p:cNvPr id="8" name="Text 5"/>
          <p:cNvSpPr/>
          <p:nvPr/>
        </p:nvSpPr>
        <p:spPr>
          <a:xfrm>
            <a:off x="1783080" y="2194560"/>
            <a:ext cx="3794760" cy="1234440"/>
          </a:xfrm>
          <a:prstGeom prst="rect">
            <a:avLst/>
          </a:prstGeom>
          <a:noFill/>
          <a:ln/>
        </p:spPr>
        <p:txBody>
          <a:bodyPr wrap="square" rtlCol="0" anchor="ctr"/>
          <a:lstStyle/>
          <a:p>
            <a:pPr indent="0" marL="0">
              <a:lnSpc>
                <a:spcPct val="122000"/>
              </a:lnSpc>
              <a:buNone/>
            </a:pPr>
            <a:r>
              <a:rPr lang="en-US" sz="1200" dirty="0">
                <a:solidFill>
                  <a:srgbClr val="5A7178"/>
                </a:solidFill>
                <a:latin typeface="Calibri" pitchFamily="34" charset="0"/>
                <a:ea typeface="Calibri" pitchFamily="34" charset="-122"/>
                <a:cs typeface="Calibri" pitchFamily="34" charset="-120"/>
              </a:rPr>
              <a:t>Build a single web-based platform on ASP.NET Core MVC for reporting and tracking lost &amp; found items.</a:t>
            </a:r>
            <a:endParaRPr lang="en-US" sz="1200" dirty="0"/>
          </a:p>
        </p:txBody>
      </p:sp>
      <p:sp>
        <p:nvSpPr>
          <p:cNvPr id="9" name="Shape 6"/>
          <p:cNvSpPr/>
          <p:nvPr/>
        </p:nvSpPr>
        <p:spPr>
          <a:xfrm>
            <a:off x="6263640" y="1554480"/>
            <a:ext cx="5257800" cy="2011680"/>
          </a:xfrm>
          <a:prstGeom prst="roundRect">
            <a:avLst>
              <a:gd name="adj" fmla="val 4545"/>
            </a:avLst>
          </a:prstGeom>
          <a:solidFill>
            <a:srgbClr val="F4F9F8"/>
          </a:solidFill>
          <a:ln/>
          <a:effectLst>
            <a:outerShdw sx="100000" sy="100000" kx="0" ky="0" algn="bl" rotWithShape="0" blurRad="101600" dist="38100" dir="5400000">
              <a:srgbClr val="000000">
                <a:alpha val="18000"/>
              </a:srgbClr>
            </a:outerShdw>
          </a:effectLst>
        </p:spPr>
      </p:sp>
      <p:sp>
        <p:nvSpPr>
          <p:cNvPr id="10" name="Shape 7"/>
          <p:cNvSpPr/>
          <p:nvPr/>
        </p:nvSpPr>
        <p:spPr>
          <a:xfrm>
            <a:off x="6537960" y="1828800"/>
            <a:ext cx="777240" cy="777240"/>
          </a:xfrm>
          <a:prstGeom prst="ellipse">
            <a:avLst/>
          </a:prstGeom>
          <a:solidFill>
            <a:srgbClr val="00A896"/>
          </a:solidFill>
          <a:ln/>
        </p:spPr>
      </p:sp>
      <p:pic>
        <p:nvPicPr>
          <p:cNvPr id="11" name="Image 1" descr="icon_target2.png">    </p:cNvPr>
          <p:cNvPicPr>
            <a:picLocks noChangeAspect="1"/>
          </p:cNvPicPr>
          <p:nvPr/>
        </p:nvPicPr>
        <p:blipFill>
          <a:blip r:embed="rId2"/>
          <a:stretch>
            <a:fillRect/>
          </a:stretch>
        </p:blipFill>
        <p:spPr>
          <a:xfrm>
            <a:off x="6711696" y="2002536"/>
            <a:ext cx="429768" cy="429768"/>
          </a:xfrm>
          <a:prstGeom prst="rect">
            <a:avLst/>
          </a:prstGeom>
        </p:spPr>
      </p:pic>
      <p:sp>
        <p:nvSpPr>
          <p:cNvPr id="12" name="Text 8"/>
          <p:cNvSpPr/>
          <p:nvPr/>
        </p:nvSpPr>
        <p:spPr>
          <a:xfrm>
            <a:off x="7498080" y="1810512"/>
            <a:ext cx="3794760" cy="365760"/>
          </a:xfrm>
          <a:prstGeom prst="rect">
            <a:avLst/>
          </a:prstGeom>
          <a:noFill/>
          <a:ln/>
        </p:spPr>
        <p:txBody>
          <a:bodyPr wrap="square" rtlCol="0" anchor="ctr"/>
          <a:lstStyle/>
          <a:p>
            <a:pPr indent="0" marL="0">
              <a:buNone/>
            </a:pPr>
            <a:r>
              <a:rPr lang="en-US" sz="1600" b="1" dirty="0">
                <a:solidFill>
                  <a:srgbClr val="1A2E35"/>
                </a:solidFill>
                <a:latin typeface="Cambria" pitchFamily="34" charset="0"/>
                <a:ea typeface="Cambria" pitchFamily="34" charset="-122"/>
                <a:cs typeface="Cambria" pitchFamily="34" charset="-120"/>
              </a:rPr>
              <a:t>Smart Matching</a:t>
            </a:r>
            <a:endParaRPr lang="en-US" sz="1600" dirty="0"/>
          </a:p>
        </p:txBody>
      </p:sp>
      <p:sp>
        <p:nvSpPr>
          <p:cNvPr id="13" name="Text 9"/>
          <p:cNvSpPr/>
          <p:nvPr/>
        </p:nvSpPr>
        <p:spPr>
          <a:xfrm>
            <a:off x="7498080" y="2194560"/>
            <a:ext cx="3794760" cy="1234440"/>
          </a:xfrm>
          <a:prstGeom prst="rect">
            <a:avLst/>
          </a:prstGeom>
          <a:noFill/>
          <a:ln/>
        </p:spPr>
        <p:txBody>
          <a:bodyPr wrap="square" rtlCol="0" anchor="ctr"/>
          <a:lstStyle/>
          <a:p>
            <a:pPr indent="0" marL="0">
              <a:lnSpc>
                <a:spcPct val="122000"/>
              </a:lnSpc>
              <a:buNone/>
            </a:pPr>
            <a:r>
              <a:rPr lang="en-US" sz="1200" dirty="0">
                <a:solidFill>
                  <a:srgbClr val="5A7178"/>
                </a:solidFill>
                <a:latin typeface="Calibri" pitchFamily="34" charset="0"/>
                <a:ea typeface="Calibri" pitchFamily="34" charset="-122"/>
                <a:cs typeface="Calibri" pitchFamily="34" charset="-120"/>
              </a:rPr>
              <a:t>Implement a weighted algorithm that automatically connects lost items with found ones by category, location, and date.</a:t>
            </a:r>
            <a:endParaRPr lang="en-US" sz="1200" dirty="0"/>
          </a:p>
        </p:txBody>
      </p:sp>
      <p:sp>
        <p:nvSpPr>
          <p:cNvPr id="14" name="Shape 10"/>
          <p:cNvSpPr/>
          <p:nvPr/>
        </p:nvSpPr>
        <p:spPr>
          <a:xfrm>
            <a:off x="548640" y="3886200"/>
            <a:ext cx="5257800" cy="2011680"/>
          </a:xfrm>
          <a:prstGeom prst="roundRect">
            <a:avLst>
              <a:gd name="adj" fmla="val 4545"/>
            </a:avLst>
          </a:prstGeom>
          <a:solidFill>
            <a:srgbClr val="F4F9F8"/>
          </a:solidFill>
          <a:ln/>
          <a:effectLst>
            <a:outerShdw sx="100000" sy="100000" kx="0" ky="0" algn="bl" rotWithShape="0" blurRad="101600" dist="38100" dir="5400000">
              <a:srgbClr val="000000">
                <a:alpha val="18000"/>
              </a:srgbClr>
            </a:outerShdw>
          </a:effectLst>
        </p:spPr>
      </p:sp>
      <p:sp>
        <p:nvSpPr>
          <p:cNvPr id="15" name="Shape 11"/>
          <p:cNvSpPr/>
          <p:nvPr/>
        </p:nvSpPr>
        <p:spPr>
          <a:xfrm>
            <a:off x="822960" y="4160520"/>
            <a:ext cx="777240" cy="777240"/>
          </a:xfrm>
          <a:prstGeom prst="ellipse">
            <a:avLst/>
          </a:prstGeom>
          <a:solidFill>
            <a:srgbClr val="00A896"/>
          </a:solidFill>
          <a:ln/>
        </p:spPr>
      </p:sp>
      <p:pic>
        <p:nvPicPr>
          <p:cNvPr id="16" name="Image 2" descr="icon_target3.png">    </p:cNvPr>
          <p:cNvPicPr>
            <a:picLocks noChangeAspect="1"/>
          </p:cNvPicPr>
          <p:nvPr/>
        </p:nvPicPr>
        <p:blipFill>
          <a:blip r:embed="rId3"/>
          <a:stretch>
            <a:fillRect/>
          </a:stretch>
        </p:blipFill>
        <p:spPr>
          <a:xfrm>
            <a:off x="996696" y="4334256"/>
            <a:ext cx="429768" cy="429768"/>
          </a:xfrm>
          <a:prstGeom prst="rect">
            <a:avLst/>
          </a:prstGeom>
        </p:spPr>
      </p:pic>
      <p:sp>
        <p:nvSpPr>
          <p:cNvPr id="17" name="Text 12"/>
          <p:cNvSpPr/>
          <p:nvPr/>
        </p:nvSpPr>
        <p:spPr>
          <a:xfrm>
            <a:off x="1783080" y="4142232"/>
            <a:ext cx="3794760" cy="365760"/>
          </a:xfrm>
          <a:prstGeom prst="rect">
            <a:avLst/>
          </a:prstGeom>
          <a:noFill/>
          <a:ln/>
        </p:spPr>
        <p:txBody>
          <a:bodyPr wrap="square" rtlCol="0" anchor="ctr"/>
          <a:lstStyle/>
          <a:p>
            <a:pPr indent="0" marL="0">
              <a:buNone/>
            </a:pPr>
            <a:r>
              <a:rPr lang="en-US" sz="1600" b="1" dirty="0">
                <a:solidFill>
                  <a:srgbClr val="1A2E35"/>
                </a:solidFill>
                <a:latin typeface="Cambria" pitchFamily="34" charset="0"/>
                <a:ea typeface="Cambria" pitchFamily="34" charset="-122"/>
                <a:cs typeface="Cambria" pitchFamily="34" charset="-120"/>
              </a:rPr>
              <a:t>Trust &amp; Privacy</a:t>
            </a:r>
            <a:endParaRPr lang="en-US" sz="1600" dirty="0"/>
          </a:p>
        </p:txBody>
      </p:sp>
      <p:sp>
        <p:nvSpPr>
          <p:cNvPr id="18" name="Text 13"/>
          <p:cNvSpPr/>
          <p:nvPr/>
        </p:nvSpPr>
        <p:spPr>
          <a:xfrm>
            <a:off x="1783080" y="4526280"/>
            <a:ext cx="3794760" cy="1234440"/>
          </a:xfrm>
          <a:prstGeom prst="rect">
            <a:avLst/>
          </a:prstGeom>
          <a:noFill/>
          <a:ln/>
        </p:spPr>
        <p:txBody>
          <a:bodyPr wrap="square" rtlCol="0" anchor="ctr"/>
          <a:lstStyle/>
          <a:p>
            <a:pPr indent="0" marL="0">
              <a:lnSpc>
                <a:spcPct val="122000"/>
              </a:lnSpc>
              <a:buNone/>
            </a:pPr>
            <a:r>
              <a:rPr lang="en-US" sz="1200" dirty="0">
                <a:solidFill>
                  <a:srgbClr val="5A7178"/>
                </a:solidFill>
                <a:latin typeface="Calibri" pitchFamily="34" charset="0"/>
                <a:ea typeface="Calibri" pitchFamily="34" charset="-122"/>
                <a:cs typeface="Calibri" pitchFamily="34" charset="-120"/>
              </a:rPr>
              <a:t>Ensure user trust through secure in-app messaging and a structured claim verification workflow.</a:t>
            </a:r>
            <a:endParaRPr lang="en-US" sz="1200" dirty="0"/>
          </a:p>
        </p:txBody>
      </p:sp>
      <p:sp>
        <p:nvSpPr>
          <p:cNvPr id="19" name="Shape 14"/>
          <p:cNvSpPr/>
          <p:nvPr/>
        </p:nvSpPr>
        <p:spPr>
          <a:xfrm>
            <a:off x="6263640" y="3886200"/>
            <a:ext cx="5257800" cy="2011680"/>
          </a:xfrm>
          <a:prstGeom prst="roundRect">
            <a:avLst>
              <a:gd name="adj" fmla="val 4545"/>
            </a:avLst>
          </a:prstGeom>
          <a:solidFill>
            <a:srgbClr val="F4F9F8"/>
          </a:solidFill>
          <a:ln/>
          <a:effectLst>
            <a:outerShdw sx="100000" sy="100000" kx="0" ky="0" algn="bl" rotWithShape="0" blurRad="101600" dist="38100" dir="5400000">
              <a:srgbClr val="000000">
                <a:alpha val="18000"/>
              </a:srgbClr>
            </a:outerShdw>
          </a:effectLst>
        </p:spPr>
      </p:sp>
      <p:sp>
        <p:nvSpPr>
          <p:cNvPr id="20" name="Shape 15"/>
          <p:cNvSpPr/>
          <p:nvPr/>
        </p:nvSpPr>
        <p:spPr>
          <a:xfrm>
            <a:off x="6537960" y="4160520"/>
            <a:ext cx="777240" cy="777240"/>
          </a:xfrm>
          <a:prstGeom prst="ellipse">
            <a:avLst/>
          </a:prstGeom>
          <a:solidFill>
            <a:srgbClr val="00A896"/>
          </a:solidFill>
          <a:ln/>
        </p:spPr>
      </p:sp>
      <p:pic>
        <p:nvPicPr>
          <p:cNvPr id="21" name="Image 3" descr="icon_target4.png">    </p:cNvPr>
          <p:cNvPicPr>
            <a:picLocks noChangeAspect="1"/>
          </p:cNvPicPr>
          <p:nvPr/>
        </p:nvPicPr>
        <p:blipFill>
          <a:blip r:embed="rId4"/>
          <a:stretch>
            <a:fillRect/>
          </a:stretch>
        </p:blipFill>
        <p:spPr>
          <a:xfrm>
            <a:off x="6711696" y="4334256"/>
            <a:ext cx="429768" cy="429768"/>
          </a:xfrm>
          <a:prstGeom prst="rect">
            <a:avLst/>
          </a:prstGeom>
        </p:spPr>
      </p:pic>
      <p:sp>
        <p:nvSpPr>
          <p:cNvPr id="22" name="Text 16"/>
          <p:cNvSpPr/>
          <p:nvPr/>
        </p:nvSpPr>
        <p:spPr>
          <a:xfrm>
            <a:off x="7498080" y="4142232"/>
            <a:ext cx="3794760" cy="365760"/>
          </a:xfrm>
          <a:prstGeom prst="rect">
            <a:avLst/>
          </a:prstGeom>
          <a:noFill/>
          <a:ln/>
        </p:spPr>
        <p:txBody>
          <a:bodyPr wrap="square" rtlCol="0" anchor="ctr"/>
          <a:lstStyle/>
          <a:p>
            <a:pPr indent="0" marL="0">
              <a:buNone/>
            </a:pPr>
            <a:r>
              <a:rPr lang="en-US" sz="1600" b="1" dirty="0">
                <a:solidFill>
                  <a:srgbClr val="1A2E35"/>
                </a:solidFill>
                <a:latin typeface="Cambria" pitchFamily="34" charset="0"/>
                <a:ea typeface="Cambria" pitchFamily="34" charset="-122"/>
                <a:cs typeface="Cambria" pitchFamily="34" charset="-120"/>
              </a:rPr>
              <a:t>Fast Recovery</a:t>
            </a:r>
            <a:endParaRPr lang="en-US" sz="1600" dirty="0"/>
          </a:p>
        </p:txBody>
      </p:sp>
      <p:sp>
        <p:nvSpPr>
          <p:cNvPr id="23" name="Text 17"/>
          <p:cNvSpPr/>
          <p:nvPr/>
        </p:nvSpPr>
        <p:spPr>
          <a:xfrm>
            <a:off x="7498080" y="4526280"/>
            <a:ext cx="3794760" cy="1234440"/>
          </a:xfrm>
          <a:prstGeom prst="rect">
            <a:avLst/>
          </a:prstGeom>
          <a:noFill/>
          <a:ln/>
        </p:spPr>
        <p:txBody>
          <a:bodyPr wrap="square" rtlCol="0" anchor="ctr"/>
          <a:lstStyle/>
          <a:p>
            <a:pPr indent="0" marL="0">
              <a:lnSpc>
                <a:spcPct val="122000"/>
              </a:lnSpc>
              <a:buNone/>
            </a:pPr>
            <a:r>
              <a:rPr lang="en-US" sz="1200" dirty="0">
                <a:solidFill>
                  <a:srgbClr val="5A7178"/>
                </a:solidFill>
                <a:latin typeface="Calibri" pitchFamily="34" charset="0"/>
                <a:ea typeface="Calibri" pitchFamily="34" charset="-122"/>
                <a:cs typeface="Calibri" pitchFamily="34" charset="-120"/>
              </a:rPr>
              <a:t>Cut the time and effort to reunite people with belongings via an intuitive, mobile-responsive interface.</a:t>
            </a:r>
            <a:endParaRPr lang="en-US" sz="1200" dirty="0"/>
          </a:p>
        </p:txBody>
      </p:sp>
      <p:sp>
        <p:nvSpPr>
          <p:cNvPr id="24" name="Text 18"/>
          <p:cNvSpPr/>
          <p:nvPr/>
        </p:nvSpPr>
        <p:spPr>
          <a:xfrm>
            <a:off x="457200" y="6473952"/>
            <a:ext cx="4572000" cy="274320"/>
          </a:xfrm>
          <a:prstGeom prst="rect">
            <a:avLst/>
          </a:prstGeom>
          <a:noFill/>
          <a:ln/>
        </p:spPr>
        <p:txBody>
          <a:bodyPr wrap="square" rtlCol="0" anchor="ctr"/>
          <a:lstStyle/>
          <a:p>
            <a:pPr indent="0" marL="0">
              <a:buNone/>
            </a:pPr>
            <a:r>
              <a:rPr lang="en-US" sz="1000" i="1" dirty="0">
                <a:solidFill>
                  <a:srgbClr val="5A7178"/>
                </a:solidFill>
                <a:latin typeface="Calibri" pitchFamily="34" charset="0"/>
                <a:ea typeface="Calibri" pitchFamily="34" charset="-122"/>
                <a:cs typeface="Calibri" pitchFamily="34" charset="-120"/>
              </a:rPr>
              <a:t>FindIt — Project Proposal</a:t>
            </a:r>
            <a:endParaRPr lang="en-US" sz="1000" dirty="0"/>
          </a:p>
        </p:txBody>
      </p:sp>
      <p:sp>
        <p:nvSpPr>
          <p:cNvPr id="25"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3200" b="1" dirty="0">
                <a:solidFill>
                  <a:srgbClr val="1A2E35"/>
                </a:solidFill>
                <a:latin typeface="Cambria" pitchFamily="34" charset="0"/>
                <a:ea typeface="Cambria" pitchFamily="34" charset="-122"/>
                <a:cs typeface="Cambria" pitchFamily="34" charset="-120"/>
              </a:rPr>
              <a:t>Scope of the Project</a:t>
            </a:r>
            <a:endParaRPr lang="en-US" sz="3200" dirty="0"/>
          </a:p>
        </p:txBody>
      </p:sp>
      <p:sp>
        <p:nvSpPr>
          <p:cNvPr id="3" name="Text 1"/>
          <p:cNvSpPr/>
          <p:nvPr/>
        </p:nvSpPr>
        <p:spPr>
          <a:xfrm>
            <a:off x="548640" y="960120"/>
            <a:ext cx="8229600" cy="320040"/>
          </a:xfrm>
          <a:prstGeom prst="rect">
            <a:avLst/>
          </a:prstGeom>
          <a:noFill/>
          <a:ln/>
        </p:spPr>
        <p:txBody>
          <a:bodyPr wrap="square" rtlCol="0" anchor="ctr"/>
          <a:lstStyle/>
          <a:p>
            <a:pPr indent="0" marL="0">
              <a:buNone/>
            </a:pPr>
            <a:r>
              <a:rPr lang="en-US" sz="1400" dirty="0">
                <a:solidFill>
                  <a:srgbClr val="5A7178"/>
                </a:solidFill>
                <a:latin typeface="Calibri" pitchFamily="34" charset="0"/>
                <a:ea typeface="Calibri" pitchFamily="34" charset="-122"/>
                <a:cs typeface="Calibri" pitchFamily="34" charset="-120"/>
              </a:rPr>
              <a:t>What version 1 will — and won't — include</a:t>
            </a:r>
            <a:endParaRPr lang="en-US" sz="1400" dirty="0"/>
          </a:p>
        </p:txBody>
      </p:sp>
      <p:sp>
        <p:nvSpPr>
          <p:cNvPr id="4" name="Shape 2"/>
          <p:cNvSpPr/>
          <p:nvPr/>
        </p:nvSpPr>
        <p:spPr>
          <a:xfrm>
            <a:off x="548640" y="1508760"/>
            <a:ext cx="5486400" cy="4709160"/>
          </a:xfrm>
          <a:prstGeom prst="roundRect">
            <a:avLst>
              <a:gd name="adj" fmla="val 2330"/>
            </a:avLst>
          </a:prstGeom>
          <a:solidFill>
            <a:srgbClr val="E9F6F3"/>
          </a:solidFill>
          <a:ln/>
        </p:spPr>
      </p:sp>
      <p:sp>
        <p:nvSpPr>
          <p:cNvPr id="5" name="Shape 3"/>
          <p:cNvSpPr/>
          <p:nvPr/>
        </p:nvSpPr>
        <p:spPr>
          <a:xfrm>
            <a:off x="822960" y="1783080"/>
            <a:ext cx="548640" cy="548640"/>
          </a:xfrm>
          <a:prstGeom prst="ellipse">
            <a:avLst/>
          </a:prstGeom>
          <a:solidFill>
            <a:srgbClr val="028090"/>
          </a:solidFill>
          <a:ln/>
        </p:spPr>
      </p:sp>
      <p:pic>
        <p:nvPicPr>
          <p:cNvPr id="6" name="Image 0" descr="icon_check.png">    </p:cNvPr>
          <p:cNvPicPr>
            <a:picLocks noChangeAspect="1"/>
          </p:cNvPicPr>
          <p:nvPr/>
        </p:nvPicPr>
        <p:blipFill>
          <a:blip r:embed="rId1"/>
          <a:stretch>
            <a:fillRect/>
          </a:stretch>
        </p:blipFill>
        <p:spPr>
          <a:xfrm>
            <a:off x="941832" y="1901952"/>
            <a:ext cx="310896" cy="310896"/>
          </a:xfrm>
          <a:prstGeom prst="rect">
            <a:avLst/>
          </a:prstGeom>
        </p:spPr>
      </p:pic>
      <p:sp>
        <p:nvSpPr>
          <p:cNvPr id="7" name="Text 4"/>
          <p:cNvSpPr/>
          <p:nvPr/>
        </p:nvSpPr>
        <p:spPr>
          <a:xfrm>
            <a:off x="1508760" y="1856232"/>
            <a:ext cx="4114800" cy="411480"/>
          </a:xfrm>
          <a:prstGeom prst="rect">
            <a:avLst/>
          </a:prstGeom>
          <a:noFill/>
          <a:ln/>
        </p:spPr>
        <p:txBody>
          <a:bodyPr wrap="square" rtlCol="0" anchor="ctr"/>
          <a:lstStyle/>
          <a:p>
            <a:pPr indent="0" marL="0">
              <a:buNone/>
            </a:pPr>
            <a:r>
              <a:rPr lang="en-US" sz="1800" b="1" dirty="0">
                <a:solidFill>
                  <a:srgbClr val="028090"/>
                </a:solidFill>
                <a:latin typeface="Cambria" pitchFamily="34" charset="0"/>
                <a:ea typeface="Cambria" pitchFamily="34" charset="-122"/>
                <a:cs typeface="Cambria" pitchFamily="34" charset="-120"/>
              </a:rPr>
              <a:t>IN-SCOPE</a:t>
            </a:r>
            <a:endParaRPr lang="en-US" sz="1800" dirty="0"/>
          </a:p>
        </p:txBody>
      </p:sp>
      <p:sp>
        <p:nvSpPr>
          <p:cNvPr id="8" name="Text 5"/>
          <p:cNvSpPr/>
          <p:nvPr/>
        </p:nvSpPr>
        <p:spPr>
          <a:xfrm>
            <a:off x="868680" y="2423160"/>
            <a:ext cx="4892040" cy="3566160"/>
          </a:xfrm>
          <a:prstGeom prst="rect">
            <a:avLst/>
          </a:prstGeom>
          <a:noFill/>
          <a:ln/>
        </p:spPr>
        <p:txBody>
          <a:bodyPr wrap="square" rtlCol="0" anchor="ctr"/>
          <a:lstStyle/>
          <a:p>
            <a:pPr marL="342900" indent="-342900">
              <a:lnSpc>
                <a:spcPct val="115000"/>
              </a:lnSpc>
              <a:spcAft>
                <a:spcPts val="1000"/>
              </a:spcAft>
              <a:buSzPct val="100000"/>
              <a:buChar char="✓"/>
            </a:pPr>
            <a:r>
              <a:rPr lang="en-US" sz="1250" dirty="0">
                <a:solidFill>
                  <a:srgbClr val="1A2E35"/>
                </a:solidFill>
                <a:latin typeface="Calibri" pitchFamily="34" charset="0"/>
                <a:ea typeface="Calibri" pitchFamily="34" charset="-122"/>
                <a:cs typeface="Calibri" pitchFamily="34" charset="-120"/>
              </a:rPr>
              <a:t>Responsive web app with role-based access (Admin, Registered User)</a:t>
            </a:r>
            <a:endParaRPr lang="en-US" sz="1250" dirty="0"/>
          </a:p>
          <a:p>
            <a:pPr marL="342900" indent="-342900">
              <a:lnSpc>
                <a:spcPct val="115000"/>
              </a:lnSpc>
              <a:spcAft>
                <a:spcPts val="1000"/>
              </a:spcAft>
              <a:buSzPct val="100000"/>
              <a:buChar char="✓"/>
            </a:pPr>
            <a:r>
              <a:rPr lang="en-US" sz="1250" dirty="0">
                <a:solidFill>
                  <a:srgbClr val="1A2E35"/>
                </a:solidFill>
                <a:latin typeface="Calibri" pitchFamily="34" charset="0"/>
                <a:ea typeface="Calibri" pitchFamily="34" charset="-122"/>
                <a:cs typeface="Calibri" pitchFamily="34" charset="-120"/>
              </a:rPr>
              <a:t>User registration &amp; authentication via ASP.NET Core Identity</a:t>
            </a:r>
            <a:endParaRPr lang="en-US" sz="1250" dirty="0"/>
          </a:p>
          <a:p>
            <a:pPr marL="342900" indent="-342900">
              <a:lnSpc>
                <a:spcPct val="115000"/>
              </a:lnSpc>
              <a:spcAft>
                <a:spcPts val="1000"/>
              </a:spcAft>
              <a:buSzPct val="100000"/>
              <a:buChar char="✓"/>
            </a:pPr>
            <a:r>
              <a:rPr lang="en-US" sz="1250" dirty="0">
                <a:solidFill>
                  <a:srgbClr val="1A2E35"/>
                </a:solidFill>
                <a:latin typeface="Calibri" pitchFamily="34" charset="0"/>
                <a:ea typeface="Calibri" pitchFamily="34" charset="-122"/>
                <a:cs typeface="Calibri" pitchFamily="34" charset="-120"/>
              </a:rPr>
              <a:t>Report modules for lost/found items with image upload &amp; categorization</a:t>
            </a:r>
            <a:endParaRPr lang="en-US" sz="1250" dirty="0"/>
          </a:p>
          <a:p>
            <a:pPr marL="342900" indent="-342900">
              <a:lnSpc>
                <a:spcPct val="115000"/>
              </a:lnSpc>
              <a:spcAft>
                <a:spcPts val="1000"/>
              </a:spcAft>
              <a:buSzPct val="100000"/>
              <a:buChar char="✓"/>
            </a:pPr>
            <a:r>
              <a:rPr lang="en-US" sz="1250" dirty="0">
                <a:solidFill>
                  <a:srgbClr val="1A2E35"/>
                </a:solidFill>
                <a:latin typeface="Calibri" pitchFamily="34" charset="0"/>
                <a:ea typeface="Calibri" pitchFamily="34" charset="-122"/>
                <a:cs typeface="Calibri" pitchFamily="34" charset="-120"/>
              </a:rPr>
              <a:t>Smart matching engine with automated notifications</a:t>
            </a:r>
            <a:endParaRPr lang="en-US" sz="1250" dirty="0"/>
          </a:p>
          <a:p>
            <a:pPr marL="342900" indent="-342900">
              <a:lnSpc>
                <a:spcPct val="115000"/>
              </a:lnSpc>
              <a:spcAft>
                <a:spcPts val="1000"/>
              </a:spcAft>
              <a:buSzPct val="100000"/>
              <a:buChar char="✓"/>
            </a:pPr>
            <a:r>
              <a:rPr lang="en-US" sz="1250" dirty="0">
                <a:solidFill>
                  <a:srgbClr val="1A2E35"/>
                </a:solidFill>
                <a:latin typeface="Calibri" pitchFamily="34" charset="0"/>
                <a:ea typeface="Calibri" pitchFamily="34" charset="-122"/>
                <a:cs typeface="Calibri" pitchFamily="34" charset="-120"/>
              </a:rPr>
              <a:t>Secure claiming workflow requiring proof of ownership</a:t>
            </a:r>
            <a:endParaRPr lang="en-US" sz="1250" dirty="0"/>
          </a:p>
          <a:p>
            <a:pPr marL="342900" indent="-342900">
              <a:lnSpc>
                <a:spcPct val="115000"/>
              </a:lnSpc>
              <a:spcAft>
                <a:spcPts val="1000"/>
              </a:spcAft>
              <a:buSzPct val="100000"/>
              <a:buChar char="✓"/>
            </a:pPr>
            <a:r>
              <a:rPr lang="en-US" sz="1250" dirty="0">
                <a:solidFill>
                  <a:srgbClr val="1A2E35"/>
                </a:solidFill>
                <a:latin typeface="Calibri" pitchFamily="34" charset="0"/>
                <a:ea typeface="Calibri" pitchFamily="34" charset="-122"/>
                <a:cs typeface="Calibri" pitchFamily="34" charset="-120"/>
              </a:rPr>
              <a:t>Admin dashboard for content moderation &amp; dispute resolution</a:t>
            </a:r>
            <a:endParaRPr lang="en-US" sz="1250" dirty="0"/>
          </a:p>
        </p:txBody>
      </p:sp>
      <p:sp>
        <p:nvSpPr>
          <p:cNvPr id="9" name="Shape 6"/>
          <p:cNvSpPr/>
          <p:nvPr/>
        </p:nvSpPr>
        <p:spPr>
          <a:xfrm>
            <a:off x="6172200" y="1508760"/>
            <a:ext cx="5440680" cy="4709160"/>
          </a:xfrm>
          <a:prstGeom prst="roundRect">
            <a:avLst>
              <a:gd name="adj" fmla="val 2330"/>
            </a:avLst>
          </a:prstGeom>
          <a:solidFill>
            <a:srgbClr val="F3EDEA"/>
          </a:solidFill>
          <a:ln/>
        </p:spPr>
      </p:sp>
      <p:sp>
        <p:nvSpPr>
          <p:cNvPr id="10" name="Shape 7"/>
          <p:cNvSpPr/>
          <p:nvPr/>
        </p:nvSpPr>
        <p:spPr>
          <a:xfrm>
            <a:off x="6446520" y="1783080"/>
            <a:ext cx="548640" cy="548640"/>
          </a:xfrm>
          <a:prstGeom prst="ellipse">
            <a:avLst/>
          </a:prstGeom>
          <a:solidFill>
            <a:srgbClr val="B85042"/>
          </a:solidFill>
          <a:ln/>
        </p:spPr>
      </p:sp>
      <p:pic>
        <p:nvPicPr>
          <p:cNvPr id="11" name="Image 1" descr="icon_eye.png">    </p:cNvPr>
          <p:cNvPicPr>
            <a:picLocks noChangeAspect="1"/>
          </p:cNvPicPr>
          <p:nvPr/>
        </p:nvPicPr>
        <p:blipFill>
          <a:blip r:embed="rId2"/>
          <a:stretch>
            <a:fillRect/>
          </a:stretch>
        </p:blipFill>
        <p:spPr>
          <a:xfrm>
            <a:off x="6565392" y="1901952"/>
            <a:ext cx="310896" cy="310896"/>
          </a:xfrm>
          <a:prstGeom prst="rect">
            <a:avLst/>
          </a:prstGeom>
        </p:spPr>
      </p:pic>
      <p:sp>
        <p:nvSpPr>
          <p:cNvPr id="12" name="Text 8"/>
          <p:cNvSpPr/>
          <p:nvPr/>
        </p:nvSpPr>
        <p:spPr>
          <a:xfrm>
            <a:off x="7132320" y="1856232"/>
            <a:ext cx="4297680" cy="411480"/>
          </a:xfrm>
          <a:prstGeom prst="rect">
            <a:avLst/>
          </a:prstGeom>
          <a:noFill/>
          <a:ln/>
        </p:spPr>
        <p:txBody>
          <a:bodyPr wrap="square" rtlCol="0" anchor="ctr"/>
          <a:lstStyle/>
          <a:p>
            <a:pPr indent="0" marL="0">
              <a:buNone/>
            </a:pPr>
            <a:r>
              <a:rPr lang="en-US" sz="1800" b="1" dirty="0">
                <a:solidFill>
                  <a:srgbClr val="B85042"/>
                </a:solidFill>
                <a:latin typeface="Cambria" pitchFamily="34" charset="0"/>
                <a:ea typeface="Cambria" pitchFamily="34" charset="-122"/>
                <a:cs typeface="Cambria" pitchFamily="34" charset="-120"/>
              </a:rPr>
              <a:t>OUT-OF-SCOPE (v1)</a:t>
            </a:r>
            <a:endParaRPr lang="en-US" sz="1800" dirty="0"/>
          </a:p>
        </p:txBody>
      </p:sp>
      <p:sp>
        <p:nvSpPr>
          <p:cNvPr id="13" name="Text 9"/>
          <p:cNvSpPr/>
          <p:nvPr/>
        </p:nvSpPr>
        <p:spPr>
          <a:xfrm>
            <a:off x="6492240" y="2423160"/>
            <a:ext cx="4846320" cy="2743200"/>
          </a:xfrm>
          <a:prstGeom prst="rect">
            <a:avLst/>
          </a:prstGeom>
          <a:noFill/>
          <a:ln/>
        </p:spPr>
        <p:txBody>
          <a:bodyPr wrap="square" rtlCol="0" anchor="ctr"/>
          <a:lstStyle/>
          <a:p>
            <a:pPr marL="342900" indent="-342900">
              <a:lnSpc>
                <a:spcPct val="120000"/>
              </a:lnSpc>
              <a:spcAft>
                <a:spcPts val="1200"/>
              </a:spcAft>
              <a:buSzPct val="100000"/>
              <a:buChar char="✗"/>
            </a:pPr>
            <a:r>
              <a:rPr lang="en-US" sz="1250" dirty="0">
                <a:solidFill>
                  <a:srgbClr val="1A2E35"/>
                </a:solidFill>
                <a:latin typeface="Calibri" pitchFamily="34" charset="0"/>
                <a:ea typeface="Calibri" pitchFamily="34" charset="-122"/>
                <a:cs typeface="Calibri" pitchFamily="34" charset="-120"/>
              </a:rPr>
              <a:t>Native mobile applications (iOS/Android) — the web app is mobile-responsive instead</a:t>
            </a:r>
            <a:endParaRPr lang="en-US" sz="1250" dirty="0"/>
          </a:p>
          <a:p>
            <a:pPr marL="342900" indent="-342900">
              <a:lnSpc>
                <a:spcPct val="120000"/>
              </a:lnSpc>
              <a:spcAft>
                <a:spcPts val="1200"/>
              </a:spcAft>
              <a:buSzPct val="100000"/>
              <a:buChar char="✗"/>
            </a:pPr>
            <a:r>
              <a:rPr lang="en-US" sz="1250" dirty="0">
                <a:solidFill>
                  <a:srgbClr val="1A2E35"/>
                </a:solidFill>
                <a:latin typeface="Calibri" pitchFamily="34" charset="0"/>
                <a:ea typeface="Calibri" pitchFamily="34" charset="-122"/>
                <a:cs typeface="Calibri" pitchFamily="34" charset="-120"/>
              </a:rPr>
              <a:t>Integration with physical IoT trackers (RFID / Bluetooth tags)</a:t>
            </a:r>
            <a:endParaRPr lang="en-US" sz="1250" dirty="0"/>
          </a:p>
          <a:p>
            <a:pPr marL="342900" indent="-342900">
              <a:lnSpc>
                <a:spcPct val="120000"/>
              </a:lnSpc>
              <a:spcAft>
                <a:spcPts val="1200"/>
              </a:spcAft>
              <a:buSzPct val="100000"/>
              <a:buChar char="✗"/>
            </a:pPr>
            <a:r>
              <a:rPr lang="en-US" sz="1250" dirty="0">
                <a:solidFill>
                  <a:srgbClr val="1A2E35"/>
                </a:solidFill>
                <a:latin typeface="Calibri" pitchFamily="34" charset="0"/>
                <a:ea typeface="Calibri" pitchFamily="34" charset="-122"/>
                <a:cs typeface="Calibri" pitchFamily="34" charset="-120"/>
              </a:rPr>
              <a:t>Monetary rewards or integrated payment gateways</a:t>
            </a:r>
            <a:endParaRPr lang="en-US" sz="1250" dirty="0"/>
          </a:p>
        </p:txBody>
      </p:sp>
      <p:sp>
        <p:nvSpPr>
          <p:cNvPr id="14" name="Text 10"/>
          <p:cNvSpPr/>
          <p:nvPr/>
        </p:nvSpPr>
        <p:spPr>
          <a:xfrm>
            <a:off x="6492240" y="5394960"/>
            <a:ext cx="4846320" cy="640080"/>
          </a:xfrm>
          <a:prstGeom prst="rect">
            <a:avLst/>
          </a:prstGeom>
          <a:noFill/>
          <a:ln/>
        </p:spPr>
        <p:txBody>
          <a:bodyPr wrap="square" rtlCol="0" anchor="ctr"/>
          <a:lstStyle/>
          <a:p>
            <a:pPr indent="0" marL="0">
              <a:lnSpc>
                <a:spcPct val="120000"/>
              </a:lnSpc>
              <a:buNone/>
            </a:pPr>
            <a:r>
              <a:rPr lang="en-US" sz="1150" i="1" dirty="0">
                <a:solidFill>
                  <a:srgbClr val="5A7178"/>
                </a:solidFill>
                <a:latin typeface="Calibri" pitchFamily="34" charset="0"/>
                <a:ea typeface="Calibri" pitchFamily="34" charset="-122"/>
                <a:cs typeface="Calibri" pitchFamily="34" charset="-120"/>
              </a:rPr>
              <a:t>Future versions may revisit these once the core platform proves adoption.</a:t>
            </a:r>
            <a:endParaRPr lang="en-US" sz="1150" dirty="0"/>
          </a:p>
        </p:txBody>
      </p:sp>
      <p:sp>
        <p:nvSpPr>
          <p:cNvPr id="15" name="Text 11"/>
          <p:cNvSpPr/>
          <p:nvPr/>
        </p:nvSpPr>
        <p:spPr>
          <a:xfrm>
            <a:off x="457200" y="6473952"/>
            <a:ext cx="4572000" cy="274320"/>
          </a:xfrm>
          <a:prstGeom prst="rect">
            <a:avLst/>
          </a:prstGeom>
          <a:noFill/>
          <a:ln/>
        </p:spPr>
        <p:txBody>
          <a:bodyPr wrap="square" rtlCol="0" anchor="ctr"/>
          <a:lstStyle/>
          <a:p>
            <a:pPr indent="0" marL="0">
              <a:buNone/>
            </a:pPr>
            <a:r>
              <a:rPr lang="en-US" sz="1000" i="1" dirty="0">
                <a:solidFill>
                  <a:srgbClr val="5A7178"/>
                </a:solidFill>
                <a:latin typeface="Calibri" pitchFamily="34" charset="0"/>
                <a:ea typeface="Calibri" pitchFamily="34" charset="-122"/>
                <a:cs typeface="Calibri" pitchFamily="34" charset="-120"/>
              </a:rPr>
              <a:t>FindIt — Project Proposal</a:t>
            </a:r>
            <a:endParaRPr lang="en-US" sz="1000" dirty="0"/>
          </a:p>
        </p:txBody>
      </p:sp>
      <p:sp>
        <p:nvSpPr>
          <p:cNvPr id="16" name="Text 1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E35"/>
        </a:solidFill>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Methodology</a:t>
            </a:r>
            <a:endParaRPr lang="en-US" sz="3200" dirty="0"/>
          </a:p>
        </p:txBody>
      </p:sp>
      <p:sp>
        <p:nvSpPr>
          <p:cNvPr id="3" name="Text 1"/>
          <p:cNvSpPr/>
          <p:nvPr/>
        </p:nvSpPr>
        <p:spPr>
          <a:xfrm>
            <a:off x="548640" y="960120"/>
            <a:ext cx="8229600" cy="320040"/>
          </a:xfrm>
          <a:prstGeom prst="rect">
            <a:avLst/>
          </a:prstGeom>
          <a:noFill/>
          <a:ln/>
        </p:spPr>
        <p:txBody>
          <a:bodyPr wrap="square" rtlCol="0" anchor="ctr"/>
          <a:lstStyle/>
          <a:p>
            <a:pPr indent="0" marL="0">
              <a:buNone/>
            </a:pPr>
            <a:r>
              <a:rPr lang="en-US" sz="1400" dirty="0">
                <a:solidFill>
                  <a:srgbClr val="00A896"/>
                </a:solidFill>
                <a:latin typeface="Calibri" pitchFamily="34" charset="0"/>
                <a:ea typeface="Calibri" pitchFamily="34" charset="-122"/>
                <a:cs typeface="Calibri" pitchFamily="34" charset="-120"/>
              </a:rPr>
              <a:t>Agile development on an MVC architecture</a:t>
            </a:r>
            <a:endParaRPr lang="en-US" sz="1400" dirty="0"/>
          </a:p>
        </p:txBody>
      </p:sp>
      <p:sp>
        <p:nvSpPr>
          <p:cNvPr id="4" name="Shape 2"/>
          <p:cNvSpPr/>
          <p:nvPr/>
        </p:nvSpPr>
        <p:spPr>
          <a:xfrm>
            <a:off x="548640" y="1600200"/>
            <a:ext cx="2084832" cy="4297680"/>
          </a:xfrm>
          <a:prstGeom prst="roundRect">
            <a:avLst>
              <a:gd name="adj" fmla="val 4386"/>
            </a:avLst>
          </a:prstGeom>
          <a:solidFill>
            <a:srgbClr val="23383F"/>
          </a:solidFill>
          <a:ln/>
          <a:effectLst>
            <a:outerShdw sx="100000" sy="100000" kx="0" ky="0" algn="bl" rotWithShape="0" blurRad="127000" dist="50800" dir="5400000">
              <a:srgbClr val="000000">
                <a:alpha val="30000"/>
              </a:srgbClr>
            </a:outerShdw>
          </a:effectLst>
        </p:spPr>
      </p:sp>
      <p:sp>
        <p:nvSpPr>
          <p:cNvPr id="5" name="Shape 3"/>
          <p:cNvSpPr/>
          <p:nvPr/>
        </p:nvSpPr>
        <p:spPr>
          <a:xfrm>
            <a:off x="1248156" y="1920240"/>
            <a:ext cx="685800" cy="685800"/>
          </a:xfrm>
          <a:prstGeom prst="ellipse">
            <a:avLst/>
          </a:prstGeom>
          <a:solidFill>
            <a:srgbClr val="00A896"/>
          </a:solidFill>
          <a:ln/>
        </p:spPr>
      </p:sp>
      <p:pic>
        <p:nvPicPr>
          <p:cNvPr id="6" name="Image 0" descr="icon_flow.png">    </p:cNvPr>
          <p:cNvPicPr>
            <a:picLocks noChangeAspect="1"/>
          </p:cNvPicPr>
          <p:nvPr/>
        </p:nvPicPr>
        <p:blipFill>
          <a:blip r:embed="rId1"/>
          <a:stretch>
            <a:fillRect/>
          </a:stretch>
        </p:blipFill>
        <p:spPr>
          <a:xfrm>
            <a:off x="1394460" y="2066544"/>
            <a:ext cx="393192" cy="393192"/>
          </a:xfrm>
          <a:prstGeom prst="rect">
            <a:avLst/>
          </a:prstGeom>
        </p:spPr>
      </p:pic>
      <p:sp>
        <p:nvSpPr>
          <p:cNvPr id="7" name="Text 4"/>
          <p:cNvSpPr/>
          <p:nvPr/>
        </p:nvSpPr>
        <p:spPr>
          <a:xfrm>
            <a:off x="658368" y="2834640"/>
            <a:ext cx="1865376" cy="502920"/>
          </a:xfrm>
          <a:prstGeom prst="rect">
            <a:avLst/>
          </a:prstGeom>
          <a:noFill/>
          <a:ln/>
        </p:spPr>
        <p:txBody>
          <a:bodyPr wrap="square" rtlCol="0" anchor="ctr"/>
          <a:lstStyle/>
          <a:p>
            <a:pPr algn="ctr" indent="0" marL="0">
              <a:buNone/>
            </a:pPr>
            <a:r>
              <a:rPr lang="en-US" sz="1450" b="1" dirty="0">
                <a:solidFill>
                  <a:srgbClr val="02C39A"/>
                </a:solidFill>
                <a:latin typeface="Cambria" pitchFamily="34" charset="0"/>
                <a:ea typeface="Cambria" pitchFamily="34" charset="-122"/>
                <a:cs typeface="Cambria" pitchFamily="34" charset="-120"/>
              </a:rPr>
              <a:t>Architecture</a:t>
            </a:r>
            <a:endParaRPr lang="en-US" sz="1450" dirty="0"/>
          </a:p>
        </p:txBody>
      </p:sp>
      <p:sp>
        <p:nvSpPr>
          <p:cNvPr id="8" name="Text 5"/>
          <p:cNvSpPr/>
          <p:nvPr/>
        </p:nvSpPr>
        <p:spPr>
          <a:xfrm>
            <a:off x="694944" y="3383280"/>
            <a:ext cx="1792224" cy="2286000"/>
          </a:xfrm>
          <a:prstGeom prst="rect">
            <a:avLst/>
          </a:prstGeom>
          <a:noFill/>
          <a:ln/>
        </p:spPr>
        <p:txBody>
          <a:bodyPr wrap="square" rtlCol="0" anchor="ctr"/>
          <a:lstStyle/>
          <a:p>
            <a:pPr algn="ctr" indent="0" marL="0">
              <a:lnSpc>
                <a:spcPct val="122000"/>
              </a:lnSpc>
              <a:buNone/>
            </a:pPr>
            <a:r>
              <a:rPr lang="en-US" sz="1080" dirty="0">
                <a:solidFill>
                  <a:srgbClr val="F4F9F8"/>
                </a:solidFill>
                <a:latin typeface="Calibri" pitchFamily="34" charset="0"/>
                <a:ea typeface="Calibri" pitchFamily="34" charset="-122"/>
                <a:cs typeface="Calibri" pitchFamily="34" charset="-120"/>
              </a:rPr>
              <a:t>Model-View-Controller (MVC) pattern separates app logic, UI, and data models.</a:t>
            </a:r>
            <a:endParaRPr lang="en-US" sz="1080" dirty="0"/>
          </a:p>
        </p:txBody>
      </p:sp>
      <p:sp>
        <p:nvSpPr>
          <p:cNvPr id="9" name="Shape 6"/>
          <p:cNvSpPr/>
          <p:nvPr/>
        </p:nvSpPr>
        <p:spPr>
          <a:xfrm>
            <a:off x="2852928" y="1600200"/>
            <a:ext cx="2084832" cy="4297680"/>
          </a:xfrm>
          <a:prstGeom prst="roundRect">
            <a:avLst>
              <a:gd name="adj" fmla="val 4386"/>
            </a:avLst>
          </a:prstGeom>
          <a:solidFill>
            <a:srgbClr val="23383F"/>
          </a:solidFill>
          <a:ln/>
          <a:effectLst>
            <a:outerShdw sx="100000" sy="100000" kx="0" ky="0" algn="bl" rotWithShape="0" blurRad="127000" dist="50800" dir="5400000">
              <a:srgbClr val="000000">
                <a:alpha val="30000"/>
              </a:srgbClr>
            </a:outerShdw>
          </a:effectLst>
        </p:spPr>
      </p:sp>
      <p:sp>
        <p:nvSpPr>
          <p:cNvPr id="10" name="Shape 7"/>
          <p:cNvSpPr/>
          <p:nvPr/>
        </p:nvSpPr>
        <p:spPr>
          <a:xfrm>
            <a:off x="3552444" y="1920240"/>
            <a:ext cx="685800" cy="685800"/>
          </a:xfrm>
          <a:prstGeom prst="ellipse">
            <a:avLst/>
          </a:prstGeom>
          <a:solidFill>
            <a:srgbClr val="00A896"/>
          </a:solidFill>
          <a:ln/>
        </p:spPr>
      </p:sp>
      <p:pic>
        <p:nvPicPr>
          <p:cNvPr id="11" name="Image 1" descr="icon_code.png">    </p:cNvPr>
          <p:cNvPicPr>
            <a:picLocks noChangeAspect="1"/>
          </p:cNvPicPr>
          <p:nvPr/>
        </p:nvPicPr>
        <p:blipFill>
          <a:blip r:embed="rId2"/>
          <a:stretch>
            <a:fillRect/>
          </a:stretch>
        </p:blipFill>
        <p:spPr>
          <a:xfrm>
            <a:off x="3698748" y="2066544"/>
            <a:ext cx="393192" cy="393192"/>
          </a:xfrm>
          <a:prstGeom prst="rect">
            <a:avLst/>
          </a:prstGeom>
        </p:spPr>
      </p:pic>
      <p:sp>
        <p:nvSpPr>
          <p:cNvPr id="12" name="Text 8"/>
          <p:cNvSpPr/>
          <p:nvPr/>
        </p:nvSpPr>
        <p:spPr>
          <a:xfrm>
            <a:off x="2962656" y="2834640"/>
            <a:ext cx="1865376" cy="502920"/>
          </a:xfrm>
          <a:prstGeom prst="rect">
            <a:avLst/>
          </a:prstGeom>
          <a:noFill/>
          <a:ln/>
        </p:spPr>
        <p:txBody>
          <a:bodyPr wrap="square" rtlCol="0" anchor="ctr"/>
          <a:lstStyle/>
          <a:p>
            <a:pPr algn="ctr" indent="0" marL="0">
              <a:buNone/>
            </a:pPr>
            <a:r>
              <a:rPr lang="en-US" sz="1450" b="1" dirty="0">
                <a:solidFill>
                  <a:srgbClr val="02C39A"/>
                </a:solidFill>
                <a:latin typeface="Cambria" pitchFamily="34" charset="0"/>
                <a:ea typeface="Cambria" pitchFamily="34" charset="-122"/>
                <a:cs typeface="Cambria" pitchFamily="34" charset="-120"/>
              </a:rPr>
              <a:t>Backend</a:t>
            </a:r>
            <a:endParaRPr lang="en-US" sz="1450" dirty="0"/>
          </a:p>
        </p:txBody>
      </p:sp>
      <p:sp>
        <p:nvSpPr>
          <p:cNvPr id="13" name="Text 9"/>
          <p:cNvSpPr/>
          <p:nvPr/>
        </p:nvSpPr>
        <p:spPr>
          <a:xfrm>
            <a:off x="2999232" y="3383280"/>
            <a:ext cx="1792224" cy="2286000"/>
          </a:xfrm>
          <a:prstGeom prst="rect">
            <a:avLst/>
          </a:prstGeom>
          <a:noFill/>
          <a:ln/>
        </p:spPr>
        <p:txBody>
          <a:bodyPr wrap="square" rtlCol="0" anchor="ctr"/>
          <a:lstStyle/>
          <a:p>
            <a:pPr algn="ctr" indent="0" marL="0">
              <a:lnSpc>
                <a:spcPct val="122000"/>
              </a:lnSpc>
              <a:buNone/>
            </a:pPr>
            <a:r>
              <a:rPr lang="en-US" sz="1080" dirty="0">
                <a:solidFill>
                  <a:srgbClr val="F4F9F8"/>
                </a:solidFill>
                <a:latin typeface="Calibri" pitchFamily="34" charset="0"/>
                <a:ea typeface="Calibri" pitchFamily="34" charset="-122"/>
                <a:cs typeface="Calibri" pitchFamily="34" charset="-120"/>
              </a:rPr>
              <a:t>ASP.NET Core (.NET 8) with C# for server-side logic.</a:t>
            </a:r>
            <a:endParaRPr lang="en-US" sz="1080" dirty="0"/>
          </a:p>
        </p:txBody>
      </p:sp>
      <p:sp>
        <p:nvSpPr>
          <p:cNvPr id="14" name="Shape 10"/>
          <p:cNvSpPr/>
          <p:nvPr/>
        </p:nvSpPr>
        <p:spPr>
          <a:xfrm>
            <a:off x="5157216" y="1600200"/>
            <a:ext cx="2084832" cy="4297680"/>
          </a:xfrm>
          <a:prstGeom prst="roundRect">
            <a:avLst>
              <a:gd name="adj" fmla="val 4386"/>
            </a:avLst>
          </a:prstGeom>
          <a:solidFill>
            <a:srgbClr val="23383F"/>
          </a:solidFill>
          <a:ln/>
          <a:effectLst>
            <a:outerShdw sx="100000" sy="100000" kx="0" ky="0" algn="bl" rotWithShape="0" blurRad="127000" dist="50800" dir="5400000">
              <a:srgbClr val="000000">
                <a:alpha val="30000"/>
              </a:srgbClr>
            </a:outerShdw>
          </a:effectLst>
        </p:spPr>
      </p:sp>
      <p:sp>
        <p:nvSpPr>
          <p:cNvPr id="15" name="Shape 11"/>
          <p:cNvSpPr/>
          <p:nvPr/>
        </p:nvSpPr>
        <p:spPr>
          <a:xfrm>
            <a:off x="5856732" y="1920240"/>
            <a:ext cx="685800" cy="685800"/>
          </a:xfrm>
          <a:prstGeom prst="ellipse">
            <a:avLst/>
          </a:prstGeom>
          <a:solidFill>
            <a:srgbClr val="00A896"/>
          </a:solidFill>
          <a:ln/>
        </p:spPr>
      </p:sp>
      <p:pic>
        <p:nvPicPr>
          <p:cNvPr id="16" name="Image 2" descr="icon_db.png">    </p:cNvPr>
          <p:cNvPicPr>
            <a:picLocks noChangeAspect="1"/>
          </p:cNvPicPr>
          <p:nvPr/>
        </p:nvPicPr>
        <p:blipFill>
          <a:blip r:embed="rId3"/>
          <a:stretch>
            <a:fillRect/>
          </a:stretch>
        </p:blipFill>
        <p:spPr>
          <a:xfrm>
            <a:off x="6003036" y="2066544"/>
            <a:ext cx="393192" cy="393192"/>
          </a:xfrm>
          <a:prstGeom prst="rect">
            <a:avLst/>
          </a:prstGeom>
        </p:spPr>
      </p:pic>
      <p:sp>
        <p:nvSpPr>
          <p:cNvPr id="17" name="Text 12"/>
          <p:cNvSpPr/>
          <p:nvPr/>
        </p:nvSpPr>
        <p:spPr>
          <a:xfrm>
            <a:off x="5266944" y="2834640"/>
            <a:ext cx="1865376" cy="502920"/>
          </a:xfrm>
          <a:prstGeom prst="rect">
            <a:avLst/>
          </a:prstGeom>
          <a:noFill/>
          <a:ln/>
        </p:spPr>
        <p:txBody>
          <a:bodyPr wrap="square" rtlCol="0" anchor="ctr"/>
          <a:lstStyle/>
          <a:p>
            <a:pPr algn="ctr" indent="0" marL="0">
              <a:buNone/>
            </a:pPr>
            <a:r>
              <a:rPr lang="en-US" sz="1450" b="1" dirty="0">
                <a:solidFill>
                  <a:srgbClr val="02C39A"/>
                </a:solidFill>
                <a:latin typeface="Cambria" pitchFamily="34" charset="0"/>
                <a:ea typeface="Cambria" pitchFamily="34" charset="-122"/>
                <a:cs typeface="Cambria" pitchFamily="34" charset="-120"/>
              </a:rPr>
              <a:t>Database</a:t>
            </a:r>
            <a:endParaRPr lang="en-US" sz="1450" dirty="0"/>
          </a:p>
        </p:txBody>
      </p:sp>
      <p:sp>
        <p:nvSpPr>
          <p:cNvPr id="18" name="Text 13"/>
          <p:cNvSpPr/>
          <p:nvPr/>
        </p:nvSpPr>
        <p:spPr>
          <a:xfrm>
            <a:off x="5303520" y="3383280"/>
            <a:ext cx="1792224" cy="2286000"/>
          </a:xfrm>
          <a:prstGeom prst="rect">
            <a:avLst/>
          </a:prstGeom>
          <a:noFill/>
          <a:ln/>
        </p:spPr>
        <p:txBody>
          <a:bodyPr wrap="square" rtlCol="0" anchor="ctr"/>
          <a:lstStyle/>
          <a:p>
            <a:pPr algn="ctr" indent="0" marL="0">
              <a:lnSpc>
                <a:spcPct val="122000"/>
              </a:lnSpc>
              <a:buNone/>
            </a:pPr>
            <a:r>
              <a:rPr lang="en-US" sz="1080" dirty="0">
                <a:solidFill>
                  <a:srgbClr val="F4F9F8"/>
                </a:solidFill>
                <a:latin typeface="Calibri" pitchFamily="34" charset="0"/>
                <a:ea typeface="Calibri" pitchFamily="34" charset="-122"/>
                <a:cs typeface="Calibri" pitchFamily="34" charset="-120"/>
              </a:rPr>
              <a:t>MS SQL Server via Entity Framework Core (Code-First) for Users, Items, Claims, Messages.</a:t>
            </a:r>
            <a:endParaRPr lang="en-US" sz="1080" dirty="0"/>
          </a:p>
        </p:txBody>
      </p:sp>
      <p:sp>
        <p:nvSpPr>
          <p:cNvPr id="19" name="Shape 14"/>
          <p:cNvSpPr/>
          <p:nvPr/>
        </p:nvSpPr>
        <p:spPr>
          <a:xfrm>
            <a:off x="7461504" y="1600200"/>
            <a:ext cx="2084832" cy="4297680"/>
          </a:xfrm>
          <a:prstGeom prst="roundRect">
            <a:avLst>
              <a:gd name="adj" fmla="val 4386"/>
            </a:avLst>
          </a:prstGeom>
          <a:solidFill>
            <a:srgbClr val="23383F"/>
          </a:solidFill>
          <a:ln/>
          <a:effectLst>
            <a:outerShdw sx="100000" sy="100000" kx="0" ky="0" algn="bl" rotWithShape="0" blurRad="127000" dist="50800" dir="5400000">
              <a:srgbClr val="000000">
                <a:alpha val="30000"/>
              </a:srgbClr>
            </a:outerShdw>
          </a:effectLst>
        </p:spPr>
      </p:sp>
      <p:sp>
        <p:nvSpPr>
          <p:cNvPr id="20" name="Shape 15"/>
          <p:cNvSpPr/>
          <p:nvPr/>
        </p:nvSpPr>
        <p:spPr>
          <a:xfrm>
            <a:off x="8161020" y="1920240"/>
            <a:ext cx="685800" cy="685800"/>
          </a:xfrm>
          <a:prstGeom prst="ellipse">
            <a:avLst/>
          </a:prstGeom>
          <a:solidFill>
            <a:srgbClr val="00A896"/>
          </a:solidFill>
          <a:ln/>
        </p:spPr>
      </p:sp>
      <p:pic>
        <p:nvPicPr>
          <p:cNvPr id="21" name="Image 3" descr="icon_layout.png">    </p:cNvPr>
          <p:cNvPicPr>
            <a:picLocks noChangeAspect="1"/>
          </p:cNvPicPr>
          <p:nvPr/>
        </p:nvPicPr>
        <p:blipFill>
          <a:blip r:embed="rId4"/>
          <a:stretch>
            <a:fillRect/>
          </a:stretch>
        </p:blipFill>
        <p:spPr>
          <a:xfrm>
            <a:off x="8307324" y="2066544"/>
            <a:ext cx="393192" cy="393192"/>
          </a:xfrm>
          <a:prstGeom prst="rect">
            <a:avLst/>
          </a:prstGeom>
        </p:spPr>
      </p:pic>
      <p:sp>
        <p:nvSpPr>
          <p:cNvPr id="22" name="Text 16"/>
          <p:cNvSpPr/>
          <p:nvPr/>
        </p:nvSpPr>
        <p:spPr>
          <a:xfrm>
            <a:off x="7571232" y="2834640"/>
            <a:ext cx="1865376" cy="502920"/>
          </a:xfrm>
          <a:prstGeom prst="rect">
            <a:avLst/>
          </a:prstGeom>
          <a:noFill/>
          <a:ln/>
        </p:spPr>
        <p:txBody>
          <a:bodyPr wrap="square" rtlCol="0" anchor="ctr"/>
          <a:lstStyle/>
          <a:p>
            <a:pPr algn="ctr" indent="0" marL="0">
              <a:buNone/>
            </a:pPr>
            <a:r>
              <a:rPr lang="en-US" sz="1450" b="1" dirty="0">
                <a:solidFill>
                  <a:srgbClr val="02C39A"/>
                </a:solidFill>
                <a:latin typeface="Cambria" pitchFamily="34" charset="0"/>
                <a:ea typeface="Cambria" pitchFamily="34" charset="-122"/>
                <a:cs typeface="Cambria" pitchFamily="34" charset="-120"/>
              </a:rPr>
              <a:t>Frontend</a:t>
            </a:r>
            <a:endParaRPr lang="en-US" sz="1450" dirty="0"/>
          </a:p>
        </p:txBody>
      </p:sp>
      <p:sp>
        <p:nvSpPr>
          <p:cNvPr id="23" name="Text 17"/>
          <p:cNvSpPr/>
          <p:nvPr/>
        </p:nvSpPr>
        <p:spPr>
          <a:xfrm>
            <a:off x="7607808" y="3383280"/>
            <a:ext cx="1792224" cy="2286000"/>
          </a:xfrm>
          <a:prstGeom prst="rect">
            <a:avLst/>
          </a:prstGeom>
          <a:noFill/>
          <a:ln/>
        </p:spPr>
        <p:txBody>
          <a:bodyPr wrap="square" rtlCol="0" anchor="ctr"/>
          <a:lstStyle/>
          <a:p>
            <a:pPr algn="ctr" indent="0" marL="0">
              <a:lnSpc>
                <a:spcPct val="122000"/>
              </a:lnSpc>
              <a:buNone/>
            </a:pPr>
            <a:r>
              <a:rPr lang="en-US" sz="1080" dirty="0">
                <a:solidFill>
                  <a:srgbClr val="F4F9F8"/>
                </a:solidFill>
                <a:latin typeface="Calibri" pitchFamily="34" charset="0"/>
                <a:ea typeface="Calibri" pitchFamily="34" charset="-122"/>
                <a:cs typeface="Calibri" pitchFamily="34" charset="-120"/>
              </a:rPr>
              <a:t>Razor Views, HTML5, CSS3, Bootstrap 5, and JavaScript (AJAX) for a dynamic UI.</a:t>
            </a:r>
            <a:endParaRPr lang="en-US" sz="1080" dirty="0"/>
          </a:p>
        </p:txBody>
      </p:sp>
      <p:sp>
        <p:nvSpPr>
          <p:cNvPr id="24" name="Shape 18"/>
          <p:cNvSpPr/>
          <p:nvPr/>
        </p:nvSpPr>
        <p:spPr>
          <a:xfrm>
            <a:off x="9765792" y="1600200"/>
            <a:ext cx="2084832" cy="4297680"/>
          </a:xfrm>
          <a:prstGeom prst="roundRect">
            <a:avLst>
              <a:gd name="adj" fmla="val 4386"/>
            </a:avLst>
          </a:prstGeom>
          <a:solidFill>
            <a:srgbClr val="23383F"/>
          </a:solidFill>
          <a:ln/>
          <a:effectLst>
            <a:outerShdw sx="100000" sy="100000" kx="0" ky="0" algn="bl" rotWithShape="0" blurRad="127000" dist="50800" dir="5400000">
              <a:srgbClr val="000000">
                <a:alpha val="30000"/>
              </a:srgbClr>
            </a:outerShdw>
          </a:effectLst>
        </p:spPr>
      </p:sp>
      <p:sp>
        <p:nvSpPr>
          <p:cNvPr id="25" name="Shape 19"/>
          <p:cNvSpPr/>
          <p:nvPr/>
        </p:nvSpPr>
        <p:spPr>
          <a:xfrm>
            <a:off x="10465308" y="1920240"/>
            <a:ext cx="685800" cy="685800"/>
          </a:xfrm>
          <a:prstGeom prst="ellipse">
            <a:avLst/>
          </a:prstGeom>
          <a:solidFill>
            <a:srgbClr val="00A896"/>
          </a:solidFill>
          <a:ln/>
        </p:spPr>
      </p:sp>
      <p:pic>
        <p:nvPicPr>
          <p:cNvPr id="26" name="Image 4" descr="icon_search.png">    </p:cNvPr>
          <p:cNvPicPr>
            <a:picLocks noChangeAspect="1"/>
          </p:cNvPicPr>
          <p:nvPr/>
        </p:nvPicPr>
        <p:blipFill>
          <a:blip r:embed="rId5"/>
          <a:stretch>
            <a:fillRect/>
          </a:stretch>
        </p:blipFill>
        <p:spPr>
          <a:xfrm>
            <a:off x="10611612" y="2066544"/>
            <a:ext cx="393192" cy="393192"/>
          </a:xfrm>
          <a:prstGeom prst="rect">
            <a:avLst/>
          </a:prstGeom>
        </p:spPr>
      </p:pic>
      <p:sp>
        <p:nvSpPr>
          <p:cNvPr id="27" name="Text 20"/>
          <p:cNvSpPr/>
          <p:nvPr/>
        </p:nvSpPr>
        <p:spPr>
          <a:xfrm>
            <a:off x="9875520" y="2834640"/>
            <a:ext cx="1865376" cy="502920"/>
          </a:xfrm>
          <a:prstGeom prst="rect">
            <a:avLst/>
          </a:prstGeom>
          <a:noFill/>
          <a:ln/>
        </p:spPr>
        <p:txBody>
          <a:bodyPr wrap="square" rtlCol="0" anchor="ctr"/>
          <a:lstStyle/>
          <a:p>
            <a:pPr algn="ctr" indent="0" marL="0">
              <a:buNone/>
            </a:pPr>
            <a:r>
              <a:rPr lang="en-US" sz="1450" b="1" dirty="0">
                <a:solidFill>
                  <a:srgbClr val="02C39A"/>
                </a:solidFill>
                <a:latin typeface="Cambria" pitchFamily="34" charset="0"/>
                <a:ea typeface="Cambria" pitchFamily="34" charset="-122"/>
                <a:cs typeface="Cambria" pitchFamily="34" charset="-120"/>
              </a:rPr>
              <a:t>Matching Logic</a:t>
            </a:r>
            <a:endParaRPr lang="en-US" sz="1450" dirty="0"/>
          </a:p>
        </p:txBody>
      </p:sp>
      <p:sp>
        <p:nvSpPr>
          <p:cNvPr id="28" name="Text 21"/>
          <p:cNvSpPr/>
          <p:nvPr/>
        </p:nvSpPr>
        <p:spPr>
          <a:xfrm>
            <a:off x="9912096" y="3383280"/>
            <a:ext cx="1792224" cy="2286000"/>
          </a:xfrm>
          <a:prstGeom prst="rect">
            <a:avLst/>
          </a:prstGeom>
          <a:noFill/>
          <a:ln/>
        </p:spPr>
        <p:txBody>
          <a:bodyPr wrap="square" rtlCol="0" anchor="ctr"/>
          <a:lstStyle/>
          <a:p>
            <a:pPr algn="ctr" indent="0" marL="0">
              <a:lnSpc>
                <a:spcPct val="122000"/>
              </a:lnSpc>
              <a:buNone/>
            </a:pPr>
            <a:r>
              <a:rPr lang="en-US" sz="1080" dirty="0">
                <a:solidFill>
                  <a:srgbClr val="F4F9F8"/>
                </a:solidFill>
                <a:latin typeface="Calibri" pitchFamily="34" charset="0"/>
                <a:ea typeface="Calibri" pitchFamily="34" charset="-122"/>
                <a:cs typeface="Calibri" pitchFamily="34" charset="-120"/>
              </a:rPr>
              <a:t>A weighted scoring algorithm runs on submission, comparing tags &amp; attributes to suggest matches.</a:t>
            </a:r>
            <a:endParaRPr lang="en-US" sz="1080" dirty="0"/>
          </a:p>
        </p:txBody>
      </p:sp>
      <p:sp>
        <p:nvSpPr>
          <p:cNvPr id="29" name="Text 22"/>
          <p:cNvSpPr/>
          <p:nvPr/>
        </p:nvSpPr>
        <p:spPr>
          <a:xfrm>
            <a:off x="548640" y="6080760"/>
            <a:ext cx="11064240" cy="365760"/>
          </a:xfrm>
          <a:prstGeom prst="rect">
            <a:avLst/>
          </a:prstGeom>
          <a:noFill/>
          <a:ln/>
        </p:spPr>
        <p:txBody>
          <a:bodyPr wrap="square" rtlCol="0" anchor="ctr"/>
          <a:lstStyle/>
          <a:p>
            <a:pPr algn="ctr" indent="0" marL="0">
              <a:buNone/>
            </a:pPr>
            <a:r>
              <a:rPr lang="en-US" sz="1200" i="1" dirty="0">
                <a:solidFill>
                  <a:srgbClr val="F4F9F8"/>
                </a:solidFill>
                <a:latin typeface="Calibri" pitchFamily="34" charset="0"/>
                <a:ea typeface="Calibri" pitchFamily="34" charset="-122"/>
                <a:cs typeface="Calibri" pitchFamily="34" charset="-120"/>
              </a:rPr>
              <a:t>Agile methodology — iterative progress with continuous testing across a 10-week cycle.</a:t>
            </a:r>
            <a:endParaRPr lang="en-US" sz="1200" dirty="0"/>
          </a:p>
        </p:txBody>
      </p:sp>
      <p:sp>
        <p:nvSpPr>
          <p:cNvPr id="30"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02920"/>
          </a:xfrm>
          <a:prstGeom prst="rect">
            <a:avLst/>
          </a:prstGeom>
          <a:noFill/>
          <a:ln/>
        </p:spPr>
        <p:txBody>
          <a:bodyPr wrap="square" rtlCol="0" anchor="ctr"/>
          <a:lstStyle/>
          <a:p>
            <a:pPr indent="0" marL="0">
              <a:buNone/>
            </a:pPr>
            <a:r>
              <a:rPr lang="en-US" sz="3000" b="1" dirty="0">
                <a:solidFill>
                  <a:srgbClr val="1A2E35"/>
                </a:solidFill>
                <a:latin typeface="Cambria" pitchFamily="34" charset="0"/>
                <a:ea typeface="Cambria" pitchFamily="34" charset="-122"/>
                <a:cs typeface="Cambria" pitchFamily="34" charset="-120"/>
              </a:rPr>
              <a:t>Project Timeline</a:t>
            </a:r>
            <a:endParaRPr lang="en-US" sz="3000" dirty="0"/>
          </a:p>
        </p:txBody>
      </p:sp>
      <p:sp>
        <p:nvSpPr>
          <p:cNvPr id="3" name="Text 1"/>
          <p:cNvSpPr/>
          <p:nvPr/>
        </p:nvSpPr>
        <p:spPr>
          <a:xfrm>
            <a:off x="548640" y="841248"/>
            <a:ext cx="8229600" cy="292608"/>
          </a:xfrm>
          <a:prstGeom prst="rect">
            <a:avLst/>
          </a:prstGeom>
          <a:noFill/>
          <a:ln/>
        </p:spPr>
        <p:txBody>
          <a:bodyPr wrap="square" rtlCol="0" anchor="ctr"/>
          <a:lstStyle/>
          <a:p>
            <a:pPr indent="0" marL="0">
              <a:buNone/>
            </a:pPr>
            <a:r>
              <a:rPr lang="en-US" sz="1300" dirty="0">
                <a:solidFill>
                  <a:srgbClr val="5A7178"/>
                </a:solidFill>
                <a:latin typeface="Calibri" pitchFamily="34" charset="0"/>
                <a:ea typeface="Calibri" pitchFamily="34" charset="-122"/>
                <a:cs typeface="Calibri" pitchFamily="34" charset="-120"/>
              </a:rPr>
              <a:t>10-week development schedule</a:t>
            </a:r>
            <a:endParaRPr lang="en-US" sz="1300" dirty="0"/>
          </a:p>
        </p:txBody>
      </p:sp>
      <p:sp>
        <p:nvSpPr>
          <p:cNvPr id="4" name="Text 2"/>
          <p:cNvSpPr/>
          <p:nvPr/>
        </p:nvSpPr>
        <p:spPr>
          <a:xfrm>
            <a:off x="3566160"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W1</a:t>
            </a:r>
            <a:endParaRPr lang="en-US" sz="1050" dirty="0"/>
          </a:p>
        </p:txBody>
      </p:sp>
      <p:sp>
        <p:nvSpPr>
          <p:cNvPr id="5" name="Text 3"/>
          <p:cNvSpPr/>
          <p:nvPr/>
        </p:nvSpPr>
        <p:spPr>
          <a:xfrm>
            <a:off x="4375404"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W2</a:t>
            </a:r>
            <a:endParaRPr lang="en-US" sz="1050" dirty="0"/>
          </a:p>
        </p:txBody>
      </p:sp>
      <p:sp>
        <p:nvSpPr>
          <p:cNvPr id="6" name="Text 4"/>
          <p:cNvSpPr/>
          <p:nvPr/>
        </p:nvSpPr>
        <p:spPr>
          <a:xfrm>
            <a:off x="5184648"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W3</a:t>
            </a:r>
            <a:endParaRPr lang="en-US" sz="1050" dirty="0"/>
          </a:p>
        </p:txBody>
      </p:sp>
      <p:sp>
        <p:nvSpPr>
          <p:cNvPr id="7" name="Text 5"/>
          <p:cNvSpPr/>
          <p:nvPr/>
        </p:nvSpPr>
        <p:spPr>
          <a:xfrm>
            <a:off x="5993892"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W4</a:t>
            </a:r>
            <a:endParaRPr lang="en-US" sz="1050" dirty="0"/>
          </a:p>
        </p:txBody>
      </p:sp>
      <p:sp>
        <p:nvSpPr>
          <p:cNvPr id="8" name="Text 6"/>
          <p:cNvSpPr/>
          <p:nvPr/>
        </p:nvSpPr>
        <p:spPr>
          <a:xfrm>
            <a:off x="6803136"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W5</a:t>
            </a:r>
            <a:endParaRPr lang="en-US" sz="1050" dirty="0"/>
          </a:p>
        </p:txBody>
      </p:sp>
      <p:sp>
        <p:nvSpPr>
          <p:cNvPr id="9" name="Text 7"/>
          <p:cNvSpPr/>
          <p:nvPr/>
        </p:nvSpPr>
        <p:spPr>
          <a:xfrm>
            <a:off x="7612380"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W6</a:t>
            </a:r>
            <a:endParaRPr lang="en-US" sz="1050" dirty="0"/>
          </a:p>
        </p:txBody>
      </p:sp>
      <p:sp>
        <p:nvSpPr>
          <p:cNvPr id="10" name="Text 8"/>
          <p:cNvSpPr/>
          <p:nvPr/>
        </p:nvSpPr>
        <p:spPr>
          <a:xfrm>
            <a:off x="8421624"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W7</a:t>
            </a:r>
            <a:endParaRPr lang="en-US" sz="1050" dirty="0"/>
          </a:p>
        </p:txBody>
      </p:sp>
      <p:sp>
        <p:nvSpPr>
          <p:cNvPr id="11" name="Text 9"/>
          <p:cNvSpPr/>
          <p:nvPr/>
        </p:nvSpPr>
        <p:spPr>
          <a:xfrm>
            <a:off x="9230868"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W8</a:t>
            </a:r>
            <a:endParaRPr lang="en-US" sz="1050" dirty="0"/>
          </a:p>
        </p:txBody>
      </p:sp>
      <p:sp>
        <p:nvSpPr>
          <p:cNvPr id="12" name="Text 10"/>
          <p:cNvSpPr/>
          <p:nvPr/>
        </p:nvSpPr>
        <p:spPr>
          <a:xfrm>
            <a:off x="10040112"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W9</a:t>
            </a:r>
            <a:endParaRPr lang="en-US" sz="1050" dirty="0"/>
          </a:p>
        </p:txBody>
      </p:sp>
      <p:sp>
        <p:nvSpPr>
          <p:cNvPr id="13" name="Text 11"/>
          <p:cNvSpPr/>
          <p:nvPr/>
        </p:nvSpPr>
        <p:spPr>
          <a:xfrm>
            <a:off x="10849356" y="1097280"/>
            <a:ext cx="809244" cy="274320"/>
          </a:xfrm>
          <a:prstGeom prst="rect">
            <a:avLst/>
          </a:prstGeom>
          <a:noFill/>
          <a:ln/>
        </p:spPr>
        <p:txBody>
          <a:bodyPr wrap="square" rtlCol="0" anchor="ctr"/>
          <a:lstStyle/>
          <a:p>
            <a:pPr algn="ctr" indent="0" marL="0">
              <a:buNone/>
            </a:pPr>
            <a:r>
              <a:rPr lang="en-US" sz="1050" b="1" dirty="0">
                <a:solidFill>
                  <a:srgbClr val="5A7178"/>
                </a:solidFill>
                <a:latin typeface="Calibri" pitchFamily="34" charset="0"/>
                <a:ea typeface="Calibri" pitchFamily="34" charset="-122"/>
                <a:cs typeface="Calibri" pitchFamily="34" charset="-120"/>
              </a:rPr>
              <a:t>W10</a:t>
            </a:r>
            <a:endParaRPr lang="en-US" sz="1050" dirty="0"/>
          </a:p>
        </p:txBody>
      </p:sp>
      <p:sp>
        <p:nvSpPr>
          <p:cNvPr id="14" name="Shape 12"/>
          <p:cNvSpPr/>
          <p:nvPr/>
        </p:nvSpPr>
        <p:spPr>
          <a:xfrm>
            <a:off x="3566160" y="1371600"/>
            <a:ext cx="0" cy="4389120"/>
          </a:xfrm>
          <a:prstGeom prst="line">
            <a:avLst/>
          </a:prstGeom>
          <a:noFill/>
          <a:ln w="9525">
            <a:solidFill>
              <a:srgbClr val="E3E9E8"/>
            </a:solidFill>
            <a:prstDash val="solid"/>
          </a:ln>
        </p:spPr>
      </p:sp>
      <p:sp>
        <p:nvSpPr>
          <p:cNvPr id="15" name="Shape 13"/>
          <p:cNvSpPr/>
          <p:nvPr/>
        </p:nvSpPr>
        <p:spPr>
          <a:xfrm>
            <a:off x="4375404" y="1371600"/>
            <a:ext cx="0" cy="4389120"/>
          </a:xfrm>
          <a:prstGeom prst="line">
            <a:avLst/>
          </a:prstGeom>
          <a:noFill/>
          <a:ln w="9525">
            <a:solidFill>
              <a:srgbClr val="E3E9E8"/>
            </a:solidFill>
            <a:prstDash val="solid"/>
          </a:ln>
        </p:spPr>
      </p:sp>
      <p:sp>
        <p:nvSpPr>
          <p:cNvPr id="16" name="Shape 14"/>
          <p:cNvSpPr/>
          <p:nvPr/>
        </p:nvSpPr>
        <p:spPr>
          <a:xfrm>
            <a:off x="5184648" y="1371600"/>
            <a:ext cx="0" cy="4389120"/>
          </a:xfrm>
          <a:prstGeom prst="line">
            <a:avLst/>
          </a:prstGeom>
          <a:noFill/>
          <a:ln w="9525">
            <a:solidFill>
              <a:srgbClr val="E3E9E8"/>
            </a:solidFill>
            <a:prstDash val="solid"/>
          </a:ln>
        </p:spPr>
      </p:sp>
      <p:sp>
        <p:nvSpPr>
          <p:cNvPr id="17" name="Shape 15"/>
          <p:cNvSpPr/>
          <p:nvPr/>
        </p:nvSpPr>
        <p:spPr>
          <a:xfrm>
            <a:off x="5993892" y="1371600"/>
            <a:ext cx="0" cy="4389120"/>
          </a:xfrm>
          <a:prstGeom prst="line">
            <a:avLst/>
          </a:prstGeom>
          <a:noFill/>
          <a:ln w="9525">
            <a:solidFill>
              <a:srgbClr val="E3E9E8"/>
            </a:solidFill>
            <a:prstDash val="solid"/>
          </a:ln>
        </p:spPr>
      </p:sp>
      <p:sp>
        <p:nvSpPr>
          <p:cNvPr id="18" name="Shape 16"/>
          <p:cNvSpPr/>
          <p:nvPr/>
        </p:nvSpPr>
        <p:spPr>
          <a:xfrm>
            <a:off x="6803136" y="1371600"/>
            <a:ext cx="0" cy="4389120"/>
          </a:xfrm>
          <a:prstGeom prst="line">
            <a:avLst/>
          </a:prstGeom>
          <a:noFill/>
          <a:ln w="9525">
            <a:solidFill>
              <a:srgbClr val="E3E9E8"/>
            </a:solidFill>
            <a:prstDash val="solid"/>
          </a:ln>
        </p:spPr>
      </p:sp>
      <p:sp>
        <p:nvSpPr>
          <p:cNvPr id="19" name="Shape 17"/>
          <p:cNvSpPr/>
          <p:nvPr/>
        </p:nvSpPr>
        <p:spPr>
          <a:xfrm>
            <a:off x="7612380" y="1371600"/>
            <a:ext cx="0" cy="4389120"/>
          </a:xfrm>
          <a:prstGeom prst="line">
            <a:avLst/>
          </a:prstGeom>
          <a:noFill/>
          <a:ln w="9525">
            <a:solidFill>
              <a:srgbClr val="E3E9E8"/>
            </a:solidFill>
            <a:prstDash val="solid"/>
          </a:ln>
        </p:spPr>
      </p:sp>
      <p:sp>
        <p:nvSpPr>
          <p:cNvPr id="20" name="Shape 18"/>
          <p:cNvSpPr/>
          <p:nvPr/>
        </p:nvSpPr>
        <p:spPr>
          <a:xfrm>
            <a:off x="8421624" y="1371600"/>
            <a:ext cx="0" cy="4389120"/>
          </a:xfrm>
          <a:prstGeom prst="line">
            <a:avLst/>
          </a:prstGeom>
          <a:noFill/>
          <a:ln w="9525">
            <a:solidFill>
              <a:srgbClr val="E3E9E8"/>
            </a:solidFill>
            <a:prstDash val="solid"/>
          </a:ln>
        </p:spPr>
      </p:sp>
      <p:sp>
        <p:nvSpPr>
          <p:cNvPr id="21" name="Shape 19"/>
          <p:cNvSpPr/>
          <p:nvPr/>
        </p:nvSpPr>
        <p:spPr>
          <a:xfrm>
            <a:off x="9230868" y="1371600"/>
            <a:ext cx="0" cy="4389120"/>
          </a:xfrm>
          <a:prstGeom prst="line">
            <a:avLst/>
          </a:prstGeom>
          <a:noFill/>
          <a:ln w="9525">
            <a:solidFill>
              <a:srgbClr val="E3E9E8"/>
            </a:solidFill>
            <a:prstDash val="solid"/>
          </a:ln>
        </p:spPr>
      </p:sp>
      <p:sp>
        <p:nvSpPr>
          <p:cNvPr id="22" name="Shape 20"/>
          <p:cNvSpPr/>
          <p:nvPr/>
        </p:nvSpPr>
        <p:spPr>
          <a:xfrm>
            <a:off x="10040112" y="1371600"/>
            <a:ext cx="0" cy="4389120"/>
          </a:xfrm>
          <a:prstGeom prst="line">
            <a:avLst/>
          </a:prstGeom>
          <a:noFill/>
          <a:ln w="9525">
            <a:solidFill>
              <a:srgbClr val="E3E9E8"/>
            </a:solidFill>
            <a:prstDash val="solid"/>
          </a:ln>
        </p:spPr>
      </p:sp>
      <p:sp>
        <p:nvSpPr>
          <p:cNvPr id="23" name="Shape 21"/>
          <p:cNvSpPr/>
          <p:nvPr/>
        </p:nvSpPr>
        <p:spPr>
          <a:xfrm>
            <a:off x="10849356" y="1371600"/>
            <a:ext cx="0" cy="4389120"/>
          </a:xfrm>
          <a:prstGeom prst="line">
            <a:avLst/>
          </a:prstGeom>
          <a:noFill/>
          <a:ln w="9525">
            <a:solidFill>
              <a:srgbClr val="E3E9E8"/>
            </a:solidFill>
            <a:prstDash val="solid"/>
          </a:ln>
        </p:spPr>
      </p:sp>
      <p:sp>
        <p:nvSpPr>
          <p:cNvPr id="24" name="Shape 22"/>
          <p:cNvSpPr/>
          <p:nvPr/>
        </p:nvSpPr>
        <p:spPr>
          <a:xfrm>
            <a:off x="11658600" y="1371600"/>
            <a:ext cx="0" cy="4389120"/>
          </a:xfrm>
          <a:prstGeom prst="line">
            <a:avLst/>
          </a:prstGeom>
          <a:noFill/>
          <a:ln w="9525">
            <a:solidFill>
              <a:srgbClr val="E3E9E8"/>
            </a:solidFill>
            <a:prstDash val="solid"/>
          </a:ln>
        </p:spPr>
      </p:sp>
      <p:sp>
        <p:nvSpPr>
          <p:cNvPr id="25" name="Shape 23"/>
          <p:cNvSpPr/>
          <p:nvPr/>
        </p:nvSpPr>
        <p:spPr>
          <a:xfrm>
            <a:off x="548640" y="1417320"/>
            <a:ext cx="10561320" cy="434340"/>
          </a:xfrm>
          <a:prstGeom prst="rect">
            <a:avLst/>
          </a:prstGeom>
          <a:solidFill>
            <a:srgbClr val="F4F9F8"/>
          </a:solidFill>
          <a:ln/>
        </p:spPr>
      </p:sp>
      <p:sp>
        <p:nvSpPr>
          <p:cNvPr id="26" name="Text 24"/>
          <p:cNvSpPr/>
          <p:nvPr/>
        </p:nvSpPr>
        <p:spPr>
          <a:xfrm>
            <a:off x="594360" y="145389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Requirement Analysis &amp; SRS</a:t>
            </a:r>
            <a:endParaRPr lang="en-US" sz="1100" dirty="0"/>
          </a:p>
        </p:txBody>
      </p:sp>
      <p:sp>
        <p:nvSpPr>
          <p:cNvPr id="27" name="Shape 25"/>
          <p:cNvSpPr/>
          <p:nvPr/>
        </p:nvSpPr>
        <p:spPr>
          <a:xfrm>
            <a:off x="3593592" y="1490472"/>
            <a:ext cx="754380" cy="288036"/>
          </a:xfrm>
          <a:prstGeom prst="roundRect">
            <a:avLst>
              <a:gd name="adj" fmla="val 15873"/>
            </a:avLst>
          </a:prstGeom>
          <a:solidFill>
            <a:srgbClr val="028090"/>
          </a:solidFill>
          <a:ln/>
        </p:spPr>
      </p:sp>
      <p:sp>
        <p:nvSpPr>
          <p:cNvPr id="28" name="Text 26"/>
          <p:cNvSpPr/>
          <p:nvPr/>
        </p:nvSpPr>
        <p:spPr>
          <a:xfrm>
            <a:off x="594360" y="188823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System Design (ERD, Use Cases, UI)</a:t>
            </a:r>
            <a:endParaRPr lang="en-US" sz="1100" dirty="0"/>
          </a:p>
        </p:txBody>
      </p:sp>
      <p:sp>
        <p:nvSpPr>
          <p:cNvPr id="29" name="Shape 27"/>
          <p:cNvSpPr/>
          <p:nvPr/>
        </p:nvSpPr>
        <p:spPr>
          <a:xfrm>
            <a:off x="3593592" y="1924812"/>
            <a:ext cx="1563624" cy="288036"/>
          </a:xfrm>
          <a:prstGeom prst="roundRect">
            <a:avLst>
              <a:gd name="adj" fmla="val 15873"/>
            </a:avLst>
          </a:prstGeom>
          <a:solidFill>
            <a:srgbClr val="00A896"/>
          </a:solidFill>
          <a:ln/>
        </p:spPr>
      </p:sp>
      <p:sp>
        <p:nvSpPr>
          <p:cNvPr id="30" name="Shape 28"/>
          <p:cNvSpPr/>
          <p:nvPr/>
        </p:nvSpPr>
        <p:spPr>
          <a:xfrm>
            <a:off x="548640" y="2286000"/>
            <a:ext cx="10561320" cy="434340"/>
          </a:xfrm>
          <a:prstGeom prst="rect">
            <a:avLst/>
          </a:prstGeom>
          <a:solidFill>
            <a:srgbClr val="F4F9F8"/>
          </a:solidFill>
          <a:ln/>
        </p:spPr>
      </p:sp>
      <p:sp>
        <p:nvSpPr>
          <p:cNvPr id="31" name="Text 29"/>
          <p:cNvSpPr/>
          <p:nvPr/>
        </p:nvSpPr>
        <p:spPr>
          <a:xfrm>
            <a:off x="594360" y="232257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Database Design &amp; ASP.NET Setup</a:t>
            </a:r>
            <a:endParaRPr lang="en-US" sz="1100" dirty="0"/>
          </a:p>
        </p:txBody>
      </p:sp>
      <p:sp>
        <p:nvSpPr>
          <p:cNvPr id="32" name="Shape 30"/>
          <p:cNvSpPr/>
          <p:nvPr/>
        </p:nvSpPr>
        <p:spPr>
          <a:xfrm>
            <a:off x="4402836" y="2359152"/>
            <a:ext cx="1563624" cy="288036"/>
          </a:xfrm>
          <a:prstGeom prst="roundRect">
            <a:avLst>
              <a:gd name="adj" fmla="val 15873"/>
            </a:avLst>
          </a:prstGeom>
          <a:solidFill>
            <a:srgbClr val="028090"/>
          </a:solidFill>
          <a:ln/>
        </p:spPr>
      </p:sp>
      <p:sp>
        <p:nvSpPr>
          <p:cNvPr id="33" name="Text 31"/>
          <p:cNvSpPr/>
          <p:nvPr/>
        </p:nvSpPr>
        <p:spPr>
          <a:xfrm>
            <a:off x="594360" y="275691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Authentication &amp; User Management</a:t>
            </a:r>
            <a:endParaRPr lang="en-US" sz="1100" dirty="0"/>
          </a:p>
        </p:txBody>
      </p:sp>
      <p:sp>
        <p:nvSpPr>
          <p:cNvPr id="34" name="Shape 32"/>
          <p:cNvSpPr/>
          <p:nvPr/>
        </p:nvSpPr>
        <p:spPr>
          <a:xfrm>
            <a:off x="5212080" y="2793492"/>
            <a:ext cx="1563624" cy="288036"/>
          </a:xfrm>
          <a:prstGeom prst="roundRect">
            <a:avLst>
              <a:gd name="adj" fmla="val 15873"/>
            </a:avLst>
          </a:prstGeom>
          <a:solidFill>
            <a:srgbClr val="00A896"/>
          </a:solidFill>
          <a:ln/>
        </p:spPr>
      </p:sp>
      <p:sp>
        <p:nvSpPr>
          <p:cNvPr id="35" name="Shape 33"/>
          <p:cNvSpPr/>
          <p:nvPr/>
        </p:nvSpPr>
        <p:spPr>
          <a:xfrm>
            <a:off x="548640" y="3154680"/>
            <a:ext cx="10561320" cy="434340"/>
          </a:xfrm>
          <a:prstGeom prst="rect">
            <a:avLst/>
          </a:prstGeom>
          <a:solidFill>
            <a:srgbClr val="F4F9F8"/>
          </a:solidFill>
          <a:ln/>
        </p:spPr>
      </p:sp>
      <p:sp>
        <p:nvSpPr>
          <p:cNvPr id="36" name="Text 34"/>
          <p:cNvSpPr/>
          <p:nvPr/>
        </p:nvSpPr>
        <p:spPr>
          <a:xfrm>
            <a:off x="594360" y="319125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Lost &amp; Found Reporting Module</a:t>
            </a:r>
            <a:endParaRPr lang="en-US" sz="1100" dirty="0"/>
          </a:p>
        </p:txBody>
      </p:sp>
      <p:sp>
        <p:nvSpPr>
          <p:cNvPr id="37" name="Shape 35"/>
          <p:cNvSpPr/>
          <p:nvPr/>
        </p:nvSpPr>
        <p:spPr>
          <a:xfrm>
            <a:off x="6021324" y="3227832"/>
            <a:ext cx="1563624" cy="288036"/>
          </a:xfrm>
          <a:prstGeom prst="roundRect">
            <a:avLst>
              <a:gd name="adj" fmla="val 15873"/>
            </a:avLst>
          </a:prstGeom>
          <a:solidFill>
            <a:srgbClr val="028090"/>
          </a:solidFill>
          <a:ln/>
        </p:spPr>
      </p:sp>
      <p:sp>
        <p:nvSpPr>
          <p:cNvPr id="38" name="Text 36"/>
          <p:cNvSpPr/>
          <p:nvPr/>
        </p:nvSpPr>
        <p:spPr>
          <a:xfrm>
            <a:off x="594360" y="362559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Search, Filtering &amp; Notifications</a:t>
            </a:r>
            <a:endParaRPr lang="en-US" sz="1100" dirty="0"/>
          </a:p>
        </p:txBody>
      </p:sp>
      <p:sp>
        <p:nvSpPr>
          <p:cNvPr id="39" name="Shape 37"/>
          <p:cNvSpPr/>
          <p:nvPr/>
        </p:nvSpPr>
        <p:spPr>
          <a:xfrm>
            <a:off x="6830568" y="3662172"/>
            <a:ext cx="1563624" cy="288036"/>
          </a:xfrm>
          <a:prstGeom prst="roundRect">
            <a:avLst>
              <a:gd name="adj" fmla="val 15873"/>
            </a:avLst>
          </a:prstGeom>
          <a:solidFill>
            <a:srgbClr val="00A896"/>
          </a:solidFill>
          <a:ln/>
        </p:spPr>
      </p:sp>
      <p:sp>
        <p:nvSpPr>
          <p:cNvPr id="40" name="Shape 38"/>
          <p:cNvSpPr/>
          <p:nvPr/>
        </p:nvSpPr>
        <p:spPr>
          <a:xfrm>
            <a:off x="548640" y="4023360"/>
            <a:ext cx="10561320" cy="434340"/>
          </a:xfrm>
          <a:prstGeom prst="rect">
            <a:avLst/>
          </a:prstGeom>
          <a:solidFill>
            <a:srgbClr val="F4F9F8"/>
          </a:solidFill>
          <a:ln/>
        </p:spPr>
      </p:sp>
      <p:sp>
        <p:nvSpPr>
          <p:cNvPr id="41" name="Text 39"/>
          <p:cNvSpPr/>
          <p:nvPr/>
        </p:nvSpPr>
        <p:spPr>
          <a:xfrm>
            <a:off x="594360" y="405993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Smart Matching Algorithm</a:t>
            </a:r>
            <a:endParaRPr lang="en-US" sz="1100" dirty="0"/>
          </a:p>
        </p:txBody>
      </p:sp>
      <p:sp>
        <p:nvSpPr>
          <p:cNvPr id="42" name="Shape 40"/>
          <p:cNvSpPr/>
          <p:nvPr/>
        </p:nvSpPr>
        <p:spPr>
          <a:xfrm>
            <a:off x="7639812" y="4096512"/>
            <a:ext cx="1563624" cy="288036"/>
          </a:xfrm>
          <a:prstGeom prst="roundRect">
            <a:avLst>
              <a:gd name="adj" fmla="val 15873"/>
            </a:avLst>
          </a:prstGeom>
          <a:solidFill>
            <a:srgbClr val="028090"/>
          </a:solidFill>
          <a:ln/>
        </p:spPr>
      </p:sp>
      <p:sp>
        <p:nvSpPr>
          <p:cNvPr id="43" name="Text 41"/>
          <p:cNvSpPr/>
          <p:nvPr/>
        </p:nvSpPr>
        <p:spPr>
          <a:xfrm>
            <a:off x="594360" y="449427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Claim Management &amp; Messaging</a:t>
            </a:r>
            <a:endParaRPr lang="en-US" sz="1100" dirty="0"/>
          </a:p>
        </p:txBody>
      </p:sp>
      <p:sp>
        <p:nvSpPr>
          <p:cNvPr id="44" name="Shape 42"/>
          <p:cNvSpPr/>
          <p:nvPr/>
        </p:nvSpPr>
        <p:spPr>
          <a:xfrm>
            <a:off x="8449056" y="4530852"/>
            <a:ext cx="1563624" cy="288036"/>
          </a:xfrm>
          <a:prstGeom prst="roundRect">
            <a:avLst>
              <a:gd name="adj" fmla="val 15873"/>
            </a:avLst>
          </a:prstGeom>
          <a:solidFill>
            <a:srgbClr val="00A896"/>
          </a:solidFill>
          <a:ln/>
        </p:spPr>
      </p:sp>
      <p:sp>
        <p:nvSpPr>
          <p:cNvPr id="45" name="Shape 43"/>
          <p:cNvSpPr/>
          <p:nvPr/>
        </p:nvSpPr>
        <p:spPr>
          <a:xfrm>
            <a:off x="548640" y="4892040"/>
            <a:ext cx="10561320" cy="434340"/>
          </a:xfrm>
          <a:prstGeom prst="rect">
            <a:avLst/>
          </a:prstGeom>
          <a:solidFill>
            <a:srgbClr val="F4F9F8"/>
          </a:solidFill>
          <a:ln/>
        </p:spPr>
      </p:sp>
      <p:sp>
        <p:nvSpPr>
          <p:cNvPr id="46" name="Text 44"/>
          <p:cNvSpPr/>
          <p:nvPr/>
        </p:nvSpPr>
        <p:spPr>
          <a:xfrm>
            <a:off x="594360" y="492861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Admin Dashboard &amp; Reports</a:t>
            </a:r>
            <a:endParaRPr lang="en-US" sz="1100" dirty="0"/>
          </a:p>
        </p:txBody>
      </p:sp>
      <p:sp>
        <p:nvSpPr>
          <p:cNvPr id="47" name="Shape 45"/>
          <p:cNvSpPr/>
          <p:nvPr/>
        </p:nvSpPr>
        <p:spPr>
          <a:xfrm>
            <a:off x="9258300" y="4965192"/>
            <a:ext cx="1563624" cy="288036"/>
          </a:xfrm>
          <a:prstGeom prst="roundRect">
            <a:avLst>
              <a:gd name="adj" fmla="val 15873"/>
            </a:avLst>
          </a:prstGeom>
          <a:solidFill>
            <a:srgbClr val="028090"/>
          </a:solidFill>
          <a:ln/>
        </p:spPr>
      </p:sp>
      <p:sp>
        <p:nvSpPr>
          <p:cNvPr id="48" name="Text 46"/>
          <p:cNvSpPr/>
          <p:nvPr/>
        </p:nvSpPr>
        <p:spPr>
          <a:xfrm>
            <a:off x="594360" y="5362956"/>
            <a:ext cx="2880360" cy="361188"/>
          </a:xfrm>
          <a:prstGeom prst="rect">
            <a:avLst/>
          </a:prstGeom>
          <a:noFill/>
          <a:ln/>
        </p:spPr>
        <p:txBody>
          <a:bodyPr wrap="square" rtlCol="0" anchor="ctr"/>
          <a:lstStyle/>
          <a:p>
            <a:pPr indent="0" marL="0">
              <a:buNone/>
            </a:pPr>
            <a:r>
              <a:rPr lang="en-US" sz="1100" dirty="0">
                <a:solidFill>
                  <a:srgbClr val="1A2E35"/>
                </a:solidFill>
                <a:latin typeface="Calibri" pitchFamily="34" charset="0"/>
                <a:ea typeface="Calibri" pitchFamily="34" charset="-122"/>
                <a:cs typeface="Calibri" pitchFamily="34" charset="-120"/>
              </a:rPr>
              <a:t>Testing, Deployment &amp; Docs</a:t>
            </a:r>
            <a:endParaRPr lang="en-US" sz="1100" dirty="0"/>
          </a:p>
        </p:txBody>
      </p:sp>
      <p:sp>
        <p:nvSpPr>
          <p:cNvPr id="49" name="Shape 47"/>
          <p:cNvSpPr/>
          <p:nvPr/>
        </p:nvSpPr>
        <p:spPr>
          <a:xfrm>
            <a:off x="10067544" y="5399532"/>
            <a:ext cx="1563624" cy="288036"/>
          </a:xfrm>
          <a:prstGeom prst="roundRect">
            <a:avLst>
              <a:gd name="adj" fmla="val 15873"/>
            </a:avLst>
          </a:prstGeom>
          <a:solidFill>
            <a:srgbClr val="00A896"/>
          </a:solidFill>
          <a:ln/>
        </p:spPr>
      </p:sp>
      <p:sp>
        <p:nvSpPr>
          <p:cNvPr id="50" name="Text 48"/>
          <p:cNvSpPr/>
          <p:nvPr/>
        </p:nvSpPr>
        <p:spPr>
          <a:xfrm>
            <a:off x="457200" y="6473952"/>
            <a:ext cx="4572000" cy="274320"/>
          </a:xfrm>
          <a:prstGeom prst="rect">
            <a:avLst/>
          </a:prstGeom>
          <a:noFill/>
          <a:ln/>
        </p:spPr>
        <p:txBody>
          <a:bodyPr wrap="square" rtlCol="0" anchor="ctr"/>
          <a:lstStyle/>
          <a:p>
            <a:pPr indent="0" marL="0">
              <a:buNone/>
            </a:pPr>
            <a:r>
              <a:rPr lang="en-US" sz="1000" i="1" dirty="0">
                <a:solidFill>
                  <a:srgbClr val="5A7178"/>
                </a:solidFill>
                <a:latin typeface="Calibri" pitchFamily="34" charset="0"/>
                <a:ea typeface="Calibri" pitchFamily="34" charset="-122"/>
                <a:cs typeface="Calibri" pitchFamily="34" charset="-120"/>
              </a:rPr>
              <a:t>FindIt — Project Proposal</a:t>
            </a:r>
            <a:endParaRPr lang="en-US" sz="1000" dirty="0"/>
          </a:p>
        </p:txBody>
      </p:sp>
      <p:sp>
        <p:nvSpPr>
          <p:cNvPr id="51" name="Text 4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200" b="1" dirty="0">
                <a:solidFill>
                  <a:srgbClr val="1A2E35"/>
                </a:solidFill>
                <a:latin typeface="Cambria" pitchFamily="34" charset="0"/>
                <a:ea typeface="Cambria" pitchFamily="34" charset="-122"/>
                <a:cs typeface="Cambria" pitchFamily="34" charset="-120"/>
              </a:rPr>
              <a:t>Budget</a:t>
            </a:r>
            <a:endParaRPr lang="en-US" sz="3200" dirty="0"/>
          </a:p>
        </p:txBody>
      </p:sp>
      <p:sp>
        <p:nvSpPr>
          <p:cNvPr id="3" name="Text 1"/>
          <p:cNvSpPr/>
          <p:nvPr/>
        </p:nvSpPr>
        <p:spPr>
          <a:xfrm>
            <a:off x="548640" y="960120"/>
            <a:ext cx="8229600" cy="320040"/>
          </a:xfrm>
          <a:prstGeom prst="rect">
            <a:avLst/>
          </a:prstGeom>
          <a:noFill/>
          <a:ln/>
        </p:spPr>
        <p:txBody>
          <a:bodyPr wrap="square" rtlCol="0" anchor="ctr"/>
          <a:lstStyle/>
          <a:p>
            <a:pPr indent="0" marL="0">
              <a:buNone/>
            </a:pPr>
            <a:r>
              <a:rPr lang="en-US" sz="1400" dirty="0">
                <a:solidFill>
                  <a:srgbClr val="5A7178"/>
                </a:solidFill>
                <a:latin typeface="Calibri" pitchFamily="34" charset="0"/>
                <a:ea typeface="Calibri" pitchFamily="34" charset="-122"/>
                <a:cs typeface="Calibri" pitchFamily="34" charset="-120"/>
              </a:rPr>
              <a:t>Open-source stack keeps development cost at zero</a:t>
            </a:r>
            <a:endParaRPr lang="en-US" sz="1400" dirty="0"/>
          </a:p>
        </p:txBody>
      </p:sp>
      <p:sp>
        <p:nvSpPr>
          <p:cNvPr id="4" name="Shape 2"/>
          <p:cNvSpPr/>
          <p:nvPr/>
        </p:nvSpPr>
        <p:spPr>
          <a:xfrm>
            <a:off x="548640" y="1554480"/>
            <a:ext cx="6949440" cy="3749040"/>
          </a:xfrm>
          <a:prstGeom prst="roundRect">
            <a:avLst>
              <a:gd name="adj" fmla="val 1951"/>
            </a:avLst>
          </a:prstGeom>
          <a:solidFill>
            <a:srgbClr val="F4F9F8"/>
          </a:solidFill>
          <a:ln/>
        </p:spPr>
      </p:sp>
      <p:sp>
        <p:nvSpPr>
          <p:cNvPr id="5" name="Text 3"/>
          <p:cNvSpPr/>
          <p:nvPr/>
        </p:nvSpPr>
        <p:spPr>
          <a:xfrm>
            <a:off x="777240" y="16002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Development Environment</a:t>
            </a:r>
            <a:endParaRPr lang="en-US" sz="1200" dirty="0"/>
          </a:p>
        </p:txBody>
      </p:sp>
      <p:sp>
        <p:nvSpPr>
          <p:cNvPr id="6" name="Text 4"/>
          <p:cNvSpPr/>
          <p:nvPr/>
        </p:nvSpPr>
        <p:spPr>
          <a:xfrm>
            <a:off x="3474720" y="16002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Visual Studio Community Edition</a:t>
            </a:r>
            <a:endParaRPr lang="en-US" sz="1150" dirty="0"/>
          </a:p>
        </p:txBody>
      </p:sp>
      <p:sp>
        <p:nvSpPr>
          <p:cNvPr id="7" name="Text 5"/>
          <p:cNvSpPr/>
          <p:nvPr/>
        </p:nvSpPr>
        <p:spPr>
          <a:xfrm>
            <a:off x="6675120" y="16002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8" name="Shape 6"/>
          <p:cNvSpPr/>
          <p:nvPr/>
        </p:nvSpPr>
        <p:spPr>
          <a:xfrm>
            <a:off x="731520" y="2057400"/>
            <a:ext cx="6583680" cy="0"/>
          </a:xfrm>
          <a:prstGeom prst="line">
            <a:avLst/>
          </a:prstGeom>
          <a:noFill/>
          <a:ln w="9525">
            <a:solidFill>
              <a:srgbClr val="DCE7E5"/>
            </a:solidFill>
            <a:prstDash val="solid"/>
          </a:ln>
        </p:spPr>
      </p:sp>
      <p:sp>
        <p:nvSpPr>
          <p:cNvPr id="9" name="Text 7"/>
          <p:cNvSpPr/>
          <p:nvPr/>
        </p:nvSpPr>
        <p:spPr>
          <a:xfrm>
            <a:off x="777240" y="20574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Database</a:t>
            </a:r>
            <a:endParaRPr lang="en-US" sz="1200" dirty="0"/>
          </a:p>
        </p:txBody>
      </p:sp>
      <p:sp>
        <p:nvSpPr>
          <p:cNvPr id="10" name="Text 8"/>
          <p:cNvSpPr/>
          <p:nvPr/>
        </p:nvSpPr>
        <p:spPr>
          <a:xfrm>
            <a:off x="3474720" y="20574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SQL Server Express Edition</a:t>
            </a:r>
            <a:endParaRPr lang="en-US" sz="1150" dirty="0"/>
          </a:p>
        </p:txBody>
      </p:sp>
      <p:sp>
        <p:nvSpPr>
          <p:cNvPr id="11" name="Text 9"/>
          <p:cNvSpPr/>
          <p:nvPr/>
        </p:nvSpPr>
        <p:spPr>
          <a:xfrm>
            <a:off x="6675120" y="20574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12" name="Shape 10"/>
          <p:cNvSpPr/>
          <p:nvPr/>
        </p:nvSpPr>
        <p:spPr>
          <a:xfrm>
            <a:off x="731520" y="2514600"/>
            <a:ext cx="6583680" cy="0"/>
          </a:xfrm>
          <a:prstGeom prst="line">
            <a:avLst/>
          </a:prstGeom>
          <a:noFill/>
          <a:ln w="9525">
            <a:solidFill>
              <a:srgbClr val="DCE7E5"/>
            </a:solidFill>
            <a:prstDash val="solid"/>
          </a:ln>
        </p:spPr>
      </p:sp>
      <p:sp>
        <p:nvSpPr>
          <p:cNvPr id="13" name="Text 11"/>
          <p:cNvSpPr/>
          <p:nvPr/>
        </p:nvSpPr>
        <p:spPr>
          <a:xfrm>
            <a:off x="777240" y="25146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Version Control</a:t>
            </a:r>
            <a:endParaRPr lang="en-US" sz="1200" dirty="0"/>
          </a:p>
        </p:txBody>
      </p:sp>
      <p:sp>
        <p:nvSpPr>
          <p:cNvPr id="14" name="Text 12"/>
          <p:cNvSpPr/>
          <p:nvPr/>
        </p:nvSpPr>
        <p:spPr>
          <a:xfrm>
            <a:off x="3474720" y="25146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Git &amp; GitHub</a:t>
            </a:r>
            <a:endParaRPr lang="en-US" sz="1150" dirty="0"/>
          </a:p>
        </p:txBody>
      </p:sp>
      <p:sp>
        <p:nvSpPr>
          <p:cNvPr id="15" name="Text 13"/>
          <p:cNvSpPr/>
          <p:nvPr/>
        </p:nvSpPr>
        <p:spPr>
          <a:xfrm>
            <a:off x="6675120" y="25146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16" name="Shape 14"/>
          <p:cNvSpPr/>
          <p:nvPr/>
        </p:nvSpPr>
        <p:spPr>
          <a:xfrm>
            <a:off x="731520" y="2971800"/>
            <a:ext cx="6583680" cy="0"/>
          </a:xfrm>
          <a:prstGeom prst="line">
            <a:avLst/>
          </a:prstGeom>
          <a:noFill/>
          <a:ln w="9525">
            <a:solidFill>
              <a:srgbClr val="DCE7E5"/>
            </a:solidFill>
            <a:prstDash val="solid"/>
          </a:ln>
        </p:spPr>
      </p:sp>
      <p:sp>
        <p:nvSpPr>
          <p:cNvPr id="17" name="Text 15"/>
          <p:cNvSpPr/>
          <p:nvPr/>
        </p:nvSpPr>
        <p:spPr>
          <a:xfrm>
            <a:off x="777240" y="29718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UI Framework</a:t>
            </a:r>
            <a:endParaRPr lang="en-US" sz="1200" dirty="0"/>
          </a:p>
        </p:txBody>
      </p:sp>
      <p:sp>
        <p:nvSpPr>
          <p:cNvPr id="18" name="Text 16"/>
          <p:cNvSpPr/>
          <p:nvPr/>
        </p:nvSpPr>
        <p:spPr>
          <a:xfrm>
            <a:off x="3474720" y="29718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Bootstrap 5</a:t>
            </a:r>
            <a:endParaRPr lang="en-US" sz="1150" dirty="0"/>
          </a:p>
        </p:txBody>
      </p:sp>
      <p:sp>
        <p:nvSpPr>
          <p:cNvPr id="19" name="Text 17"/>
          <p:cNvSpPr/>
          <p:nvPr/>
        </p:nvSpPr>
        <p:spPr>
          <a:xfrm>
            <a:off x="6675120" y="29718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20" name="Shape 18"/>
          <p:cNvSpPr/>
          <p:nvPr/>
        </p:nvSpPr>
        <p:spPr>
          <a:xfrm>
            <a:off x="731520" y="3429000"/>
            <a:ext cx="6583680" cy="0"/>
          </a:xfrm>
          <a:prstGeom prst="line">
            <a:avLst/>
          </a:prstGeom>
          <a:noFill/>
          <a:ln w="9525">
            <a:solidFill>
              <a:srgbClr val="DCE7E5"/>
            </a:solidFill>
            <a:prstDash val="solid"/>
          </a:ln>
        </p:spPr>
      </p:sp>
      <p:sp>
        <p:nvSpPr>
          <p:cNvPr id="21" name="Text 19"/>
          <p:cNvSpPr/>
          <p:nvPr/>
        </p:nvSpPr>
        <p:spPr>
          <a:xfrm>
            <a:off x="777240" y="34290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Mapping Service</a:t>
            </a:r>
            <a:endParaRPr lang="en-US" sz="1200" dirty="0"/>
          </a:p>
        </p:txBody>
      </p:sp>
      <p:sp>
        <p:nvSpPr>
          <p:cNvPr id="22" name="Text 20"/>
          <p:cNvSpPr/>
          <p:nvPr/>
        </p:nvSpPr>
        <p:spPr>
          <a:xfrm>
            <a:off x="3474720" y="34290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Leaflet.js + OpenStreetMap</a:t>
            </a:r>
            <a:endParaRPr lang="en-US" sz="1150" dirty="0"/>
          </a:p>
        </p:txBody>
      </p:sp>
      <p:sp>
        <p:nvSpPr>
          <p:cNvPr id="23" name="Text 21"/>
          <p:cNvSpPr/>
          <p:nvPr/>
        </p:nvSpPr>
        <p:spPr>
          <a:xfrm>
            <a:off x="6675120" y="34290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24" name="Shape 22"/>
          <p:cNvSpPr/>
          <p:nvPr/>
        </p:nvSpPr>
        <p:spPr>
          <a:xfrm>
            <a:off x="731520" y="3886200"/>
            <a:ext cx="6583680" cy="0"/>
          </a:xfrm>
          <a:prstGeom prst="line">
            <a:avLst/>
          </a:prstGeom>
          <a:noFill/>
          <a:ln w="9525">
            <a:solidFill>
              <a:srgbClr val="DCE7E5"/>
            </a:solidFill>
            <a:prstDash val="solid"/>
          </a:ln>
        </p:spPr>
      </p:sp>
      <p:sp>
        <p:nvSpPr>
          <p:cNvPr id="25" name="Text 23"/>
          <p:cNvSpPr/>
          <p:nvPr/>
        </p:nvSpPr>
        <p:spPr>
          <a:xfrm>
            <a:off x="777240" y="38862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Charts</a:t>
            </a:r>
            <a:endParaRPr lang="en-US" sz="1200" dirty="0"/>
          </a:p>
        </p:txBody>
      </p:sp>
      <p:sp>
        <p:nvSpPr>
          <p:cNvPr id="26" name="Text 24"/>
          <p:cNvSpPr/>
          <p:nvPr/>
        </p:nvSpPr>
        <p:spPr>
          <a:xfrm>
            <a:off x="3474720" y="38862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Chart.js</a:t>
            </a:r>
            <a:endParaRPr lang="en-US" sz="1150" dirty="0"/>
          </a:p>
        </p:txBody>
      </p:sp>
      <p:sp>
        <p:nvSpPr>
          <p:cNvPr id="27" name="Text 25"/>
          <p:cNvSpPr/>
          <p:nvPr/>
        </p:nvSpPr>
        <p:spPr>
          <a:xfrm>
            <a:off x="6675120" y="38862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28" name="Shape 26"/>
          <p:cNvSpPr/>
          <p:nvPr/>
        </p:nvSpPr>
        <p:spPr>
          <a:xfrm>
            <a:off x="731520" y="4343400"/>
            <a:ext cx="6583680" cy="0"/>
          </a:xfrm>
          <a:prstGeom prst="line">
            <a:avLst/>
          </a:prstGeom>
          <a:noFill/>
          <a:ln w="9525">
            <a:solidFill>
              <a:srgbClr val="DCE7E5"/>
            </a:solidFill>
            <a:prstDash val="solid"/>
          </a:ln>
        </p:spPr>
      </p:sp>
      <p:sp>
        <p:nvSpPr>
          <p:cNvPr id="29" name="Text 27"/>
          <p:cNvSpPr/>
          <p:nvPr/>
        </p:nvSpPr>
        <p:spPr>
          <a:xfrm>
            <a:off x="777240" y="43434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IDE &amp; DB Tools</a:t>
            </a:r>
            <a:endParaRPr lang="en-US" sz="1200" dirty="0"/>
          </a:p>
        </p:txBody>
      </p:sp>
      <p:sp>
        <p:nvSpPr>
          <p:cNvPr id="30" name="Text 28"/>
          <p:cNvSpPr/>
          <p:nvPr/>
        </p:nvSpPr>
        <p:spPr>
          <a:xfrm>
            <a:off x="3474720" y="43434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SQL Server Management Studio</a:t>
            </a:r>
            <a:endParaRPr lang="en-US" sz="1150" dirty="0"/>
          </a:p>
        </p:txBody>
      </p:sp>
      <p:sp>
        <p:nvSpPr>
          <p:cNvPr id="31" name="Text 29"/>
          <p:cNvSpPr/>
          <p:nvPr/>
        </p:nvSpPr>
        <p:spPr>
          <a:xfrm>
            <a:off x="6675120" y="43434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32" name="Shape 30"/>
          <p:cNvSpPr/>
          <p:nvPr/>
        </p:nvSpPr>
        <p:spPr>
          <a:xfrm>
            <a:off x="731520" y="4800600"/>
            <a:ext cx="6583680" cy="0"/>
          </a:xfrm>
          <a:prstGeom prst="line">
            <a:avLst/>
          </a:prstGeom>
          <a:noFill/>
          <a:ln w="9525">
            <a:solidFill>
              <a:srgbClr val="DCE7E5"/>
            </a:solidFill>
            <a:prstDash val="solid"/>
          </a:ln>
        </p:spPr>
      </p:sp>
      <p:sp>
        <p:nvSpPr>
          <p:cNvPr id="33" name="Text 31"/>
          <p:cNvSpPr/>
          <p:nvPr/>
        </p:nvSpPr>
        <p:spPr>
          <a:xfrm>
            <a:off x="777240" y="4800600"/>
            <a:ext cx="2651760" cy="457200"/>
          </a:xfrm>
          <a:prstGeom prst="rect">
            <a:avLst/>
          </a:prstGeom>
          <a:noFill/>
          <a:ln/>
        </p:spPr>
        <p:txBody>
          <a:bodyPr wrap="square"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Testing</a:t>
            </a:r>
            <a:endParaRPr lang="en-US" sz="1200" dirty="0"/>
          </a:p>
        </p:txBody>
      </p:sp>
      <p:sp>
        <p:nvSpPr>
          <p:cNvPr id="34" name="Text 32"/>
          <p:cNvSpPr/>
          <p:nvPr/>
        </p:nvSpPr>
        <p:spPr>
          <a:xfrm>
            <a:off x="3474720" y="4800600"/>
            <a:ext cx="3200400" cy="457200"/>
          </a:xfrm>
          <a:prstGeom prst="rect">
            <a:avLst/>
          </a:prstGeom>
          <a:noFill/>
          <a:ln/>
        </p:spPr>
        <p:txBody>
          <a:bodyPr wrap="square" rtlCol="0" anchor="ctr"/>
          <a:lstStyle/>
          <a:p>
            <a:pPr indent="0" marL="0">
              <a:buNone/>
            </a:pPr>
            <a:r>
              <a:rPr lang="en-US" sz="1150" dirty="0">
                <a:solidFill>
                  <a:srgbClr val="5A7178"/>
                </a:solidFill>
                <a:latin typeface="Calibri" pitchFamily="34" charset="0"/>
                <a:ea typeface="Calibri" pitchFamily="34" charset="-122"/>
                <a:cs typeface="Calibri" pitchFamily="34" charset="-120"/>
              </a:rPr>
              <a:t>Localhost (IIS Express / Kestrel)</a:t>
            </a:r>
            <a:endParaRPr lang="en-US" sz="1150" dirty="0"/>
          </a:p>
        </p:txBody>
      </p:sp>
      <p:sp>
        <p:nvSpPr>
          <p:cNvPr id="35" name="Text 33"/>
          <p:cNvSpPr/>
          <p:nvPr/>
        </p:nvSpPr>
        <p:spPr>
          <a:xfrm>
            <a:off x="6675120" y="4800600"/>
            <a:ext cx="640080" cy="457200"/>
          </a:xfrm>
          <a:prstGeom prst="rect">
            <a:avLst/>
          </a:prstGeom>
          <a:noFill/>
          <a:ln/>
        </p:spPr>
        <p:txBody>
          <a:bodyPr wrap="square" rtlCol="0" anchor="ctr"/>
          <a:lstStyle/>
          <a:p>
            <a:pPr algn="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p>
        </p:txBody>
      </p:sp>
      <p:sp>
        <p:nvSpPr>
          <p:cNvPr id="36" name="Shape 34"/>
          <p:cNvSpPr/>
          <p:nvPr/>
        </p:nvSpPr>
        <p:spPr>
          <a:xfrm>
            <a:off x="7818120" y="1554480"/>
            <a:ext cx="3794760" cy="4114800"/>
          </a:xfrm>
          <a:prstGeom prst="roundRect">
            <a:avLst>
              <a:gd name="adj" fmla="val 2892"/>
            </a:avLst>
          </a:prstGeom>
          <a:solidFill>
            <a:srgbClr val="028090"/>
          </a:solidFill>
          <a:ln/>
          <a:effectLst>
            <a:outerShdw sx="100000" sy="100000" kx="0" ky="0" algn="bl" rotWithShape="0" blurRad="101600" dist="38100" dir="5400000">
              <a:srgbClr val="000000">
                <a:alpha val="18000"/>
              </a:srgbClr>
            </a:outerShdw>
          </a:effectLst>
        </p:spPr>
      </p:sp>
      <p:sp>
        <p:nvSpPr>
          <p:cNvPr id="37" name="Text 35"/>
          <p:cNvSpPr/>
          <p:nvPr/>
        </p:nvSpPr>
        <p:spPr>
          <a:xfrm>
            <a:off x="8092440" y="1965960"/>
            <a:ext cx="3246120" cy="457200"/>
          </a:xfrm>
          <a:prstGeom prst="rect">
            <a:avLst/>
          </a:prstGeom>
          <a:noFill/>
          <a:ln/>
        </p:spPr>
        <p:txBody>
          <a:bodyPr wrap="square" rtlCol="0" anchor="ctr"/>
          <a:lstStyle/>
          <a:p>
            <a:pPr algn="ctr" indent="0" marL="0">
              <a:buNone/>
            </a:pPr>
            <a:r>
              <a:rPr lang="en-US" sz="1200" b="1" spc="100" kern="0" dirty="0">
                <a:solidFill>
                  <a:srgbClr val="F4F9F8"/>
                </a:solidFill>
                <a:latin typeface="Calibri" pitchFamily="34" charset="0"/>
                <a:ea typeface="Calibri" pitchFamily="34" charset="-122"/>
                <a:cs typeface="Calibri" pitchFamily="34" charset="-120"/>
              </a:rPr>
              <a:t>TOTAL DEVELOPMENT COST</a:t>
            </a:r>
            <a:endParaRPr lang="en-US" sz="1200" dirty="0"/>
          </a:p>
        </p:txBody>
      </p:sp>
      <p:sp>
        <p:nvSpPr>
          <p:cNvPr id="38" name="Text 36"/>
          <p:cNvSpPr/>
          <p:nvPr/>
        </p:nvSpPr>
        <p:spPr>
          <a:xfrm>
            <a:off x="8092440" y="2514600"/>
            <a:ext cx="3246120" cy="1188720"/>
          </a:xfrm>
          <a:prstGeom prst="rect">
            <a:avLst/>
          </a:prstGeom>
          <a:noFill/>
          <a:ln/>
        </p:spPr>
        <p:txBody>
          <a:bodyPr wrap="square"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$0</a:t>
            </a:r>
            <a:endParaRPr lang="en-US" sz="7200" dirty="0"/>
          </a:p>
        </p:txBody>
      </p:sp>
      <p:sp>
        <p:nvSpPr>
          <p:cNvPr id="39" name="Text 37"/>
          <p:cNvSpPr/>
          <p:nvPr/>
        </p:nvSpPr>
        <p:spPr>
          <a:xfrm>
            <a:off x="8183880" y="3749040"/>
            <a:ext cx="3063240" cy="914400"/>
          </a:xfrm>
          <a:prstGeom prst="rect">
            <a:avLst/>
          </a:prstGeom>
          <a:noFill/>
          <a:ln/>
        </p:spPr>
        <p:txBody>
          <a:bodyPr wrap="square" rtlCol="0" anchor="ctr"/>
          <a:lstStyle/>
          <a:p>
            <a:pPr algn="ctr" indent="0" marL="0">
              <a:lnSpc>
                <a:spcPct val="125000"/>
              </a:lnSpc>
              <a:buNone/>
            </a:pPr>
            <a:r>
              <a:rPr lang="en-US" sz="1200" i="1" dirty="0">
                <a:solidFill>
                  <a:srgbClr val="F4F9F8"/>
                </a:solidFill>
                <a:latin typeface="Calibri" pitchFamily="34" charset="0"/>
                <a:ea typeface="Calibri" pitchFamily="34" charset="-122"/>
                <a:cs typeface="Calibri" pitchFamily="34" charset="-120"/>
              </a:rPr>
              <a:t>100% open-source &amp; free-tier tools for a one-year operational period.</a:t>
            </a:r>
            <a:endParaRPr lang="en-US" sz="1200" dirty="0"/>
          </a:p>
        </p:txBody>
      </p:sp>
      <p:sp>
        <p:nvSpPr>
          <p:cNvPr id="40" name="Shape 38"/>
          <p:cNvSpPr/>
          <p:nvPr/>
        </p:nvSpPr>
        <p:spPr>
          <a:xfrm>
            <a:off x="8183880" y="4754880"/>
            <a:ext cx="3063240" cy="0"/>
          </a:xfrm>
          <a:prstGeom prst="line">
            <a:avLst/>
          </a:prstGeom>
          <a:noFill/>
          <a:ln w="12700">
            <a:solidFill>
              <a:srgbClr val="FFFFFF">
                <a:alpha val="45000"/>
              </a:srgbClr>
            </a:solidFill>
            <a:prstDash val="solid"/>
          </a:ln>
        </p:spPr>
      </p:sp>
      <p:sp>
        <p:nvSpPr>
          <p:cNvPr id="41" name="Text 39"/>
          <p:cNvSpPr/>
          <p:nvPr/>
        </p:nvSpPr>
        <p:spPr>
          <a:xfrm>
            <a:off x="8183880" y="4937760"/>
            <a:ext cx="3063240" cy="640080"/>
          </a:xfrm>
          <a:prstGeom prst="rect">
            <a:avLst/>
          </a:prstGeom>
          <a:noFill/>
          <a:ln/>
        </p:spPr>
        <p:txBody>
          <a:bodyPr wrap="square" rtlCol="0" anchor="ctr"/>
          <a:lstStyle/>
          <a:p>
            <a:pPr algn="ctr" indent="0" marL="0">
              <a:lnSpc>
                <a:spcPct val="120000"/>
              </a:lnSpc>
              <a:buNone/>
            </a:pPr>
            <a:r>
              <a:rPr lang="en-US" sz="1100" dirty="0">
                <a:solidFill>
                  <a:srgbClr val="F4F9F8"/>
                </a:solidFill>
                <a:latin typeface="Calibri" pitchFamily="34" charset="0"/>
                <a:ea typeface="Calibri" pitchFamily="34" charset="-122"/>
                <a:cs typeface="Calibri" pitchFamily="34" charset="-120"/>
              </a:rPr>
              <a:t>No paid licenses, hosting fees, or physical materials required for the MVP.</a:t>
            </a:r>
            <a:endParaRPr lang="en-US" sz="1100" dirty="0"/>
          </a:p>
        </p:txBody>
      </p:sp>
      <p:sp>
        <p:nvSpPr>
          <p:cNvPr id="42" name="Text 40"/>
          <p:cNvSpPr/>
          <p:nvPr/>
        </p:nvSpPr>
        <p:spPr>
          <a:xfrm>
            <a:off x="457200" y="6473952"/>
            <a:ext cx="4572000" cy="274320"/>
          </a:xfrm>
          <a:prstGeom prst="rect">
            <a:avLst/>
          </a:prstGeom>
          <a:noFill/>
          <a:ln/>
        </p:spPr>
        <p:txBody>
          <a:bodyPr wrap="square" rtlCol="0" anchor="ctr"/>
          <a:lstStyle/>
          <a:p>
            <a:pPr indent="0" marL="0">
              <a:buNone/>
            </a:pPr>
            <a:r>
              <a:rPr lang="en-US" sz="1000" i="1" dirty="0">
                <a:solidFill>
                  <a:srgbClr val="5A7178"/>
                </a:solidFill>
                <a:latin typeface="Calibri" pitchFamily="34" charset="0"/>
                <a:ea typeface="Calibri" pitchFamily="34" charset="-122"/>
                <a:cs typeface="Calibri" pitchFamily="34" charset="-120"/>
              </a:rPr>
              <a:t>FindIt — Project Proposal</a:t>
            </a:r>
            <a:endParaRPr lang="en-US" sz="1000" dirty="0"/>
          </a:p>
        </p:txBody>
      </p:sp>
      <p:sp>
        <p:nvSpPr>
          <p:cNvPr id="43" name="Text 4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200" b="1" dirty="0">
                <a:solidFill>
                  <a:srgbClr val="1A2E35"/>
                </a:solidFill>
                <a:latin typeface="Cambria" pitchFamily="34" charset="0"/>
                <a:ea typeface="Cambria" pitchFamily="34" charset="-122"/>
                <a:cs typeface="Cambria" pitchFamily="34" charset="-120"/>
              </a:rPr>
              <a:t>Risk Analysis</a:t>
            </a:r>
            <a:endParaRPr lang="en-US" sz="3200" dirty="0"/>
          </a:p>
        </p:txBody>
      </p:sp>
      <p:sp>
        <p:nvSpPr>
          <p:cNvPr id="3" name="Text 1"/>
          <p:cNvSpPr/>
          <p:nvPr/>
        </p:nvSpPr>
        <p:spPr>
          <a:xfrm>
            <a:off x="548640" y="960120"/>
            <a:ext cx="8229600" cy="320040"/>
          </a:xfrm>
          <a:prstGeom prst="rect">
            <a:avLst/>
          </a:prstGeom>
          <a:noFill/>
          <a:ln/>
        </p:spPr>
        <p:txBody>
          <a:bodyPr wrap="square" rtlCol="0" anchor="ctr"/>
          <a:lstStyle/>
          <a:p>
            <a:pPr indent="0" marL="0">
              <a:buNone/>
            </a:pPr>
            <a:r>
              <a:rPr lang="en-US" sz="1400" dirty="0">
                <a:solidFill>
                  <a:srgbClr val="5A7178"/>
                </a:solidFill>
                <a:latin typeface="Calibri" pitchFamily="34" charset="0"/>
                <a:ea typeface="Calibri" pitchFamily="34" charset="-122"/>
                <a:cs typeface="Calibri" pitchFamily="34" charset="-120"/>
              </a:rPr>
              <a:t>Key risks and how FindIt mitigates them</a:t>
            </a:r>
            <a:endParaRPr lang="en-US" sz="1400" dirty="0"/>
          </a:p>
        </p:txBody>
      </p:sp>
      <p:sp>
        <p:nvSpPr>
          <p:cNvPr id="4" name="Shape 2"/>
          <p:cNvSpPr/>
          <p:nvPr/>
        </p:nvSpPr>
        <p:spPr>
          <a:xfrm>
            <a:off x="548640" y="1508760"/>
            <a:ext cx="5257800" cy="2148840"/>
          </a:xfrm>
          <a:prstGeom prst="roundRect">
            <a:avLst>
              <a:gd name="adj" fmla="val 4255"/>
            </a:avLst>
          </a:prstGeom>
          <a:solidFill>
            <a:srgbClr val="F4F9F8"/>
          </a:solidFill>
          <a:ln/>
          <a:effectLst>
            <a:outerShdw sx="100000" sy="100000" kx="0" ky="0" algn="bl" rotWithShape="0" blurRad="101600" dist="38100" dir="5400000">
              <a:srgbClr val="000000">
                <a:alpha val="18000"/>
              </a:srgbClr>
            </a:outerShdw>
          </a:effectLst>
        </p:spPr>
      </p:sp>
      <p:sp>
        <p:nvSpPr>
          <p:cNvPr id="5" name="Shape 3"/>
          <p:cNvSpPr/>
          <p:nvPr/>
        </p:nvSpPr>
        <p:spPr>
          <a:xfrm>
            <a:off x="804672" y="1764792"/>
            <a:ext cx="640080" cy="640080"/>
          </a:xfrm>
          <a:prstGeom prst="ellipse">
            <a:avLst/>
          </a:prstGeom>
          <a:solidFill>
            <a:srgbClr val="B85042"/>
          </a:solidFill>
          <a:ln/>
        </p:spPr>
      </p:sp>
      <p:pic>
        <p:nvPicPr>
          <p:cNvPr id="6" name="Image 0" descr="icon_users_low.png">    </p:cNvPr>
          <p:cNvPicPr>
            <a:picLocks noChangeAspect="1"/>
          </p:cNvPicPr>
          <p:nvPr/>
        </p:nvPicPr>
        <p:blipFill>
          <a:blip r:embed="rId1"/>
          <a:stretch>
            <a:fillRect/>
          </a:stretch>
        </p:blipFill>
        <p:spPr>
          <a:xfrm>
            <a:off x="941832" y="1901952"/>
            <a:ext cx="365760" cy="365760"/>
          </a:xfrm>
          <a:prstGeom prst="rect">
            <a:avLst/>
          </a:prstGeom>
        </p:spPr>
      </p:pic>
      <p:sp>
        <p:nvSpPr>
          <p:cNvPr id="7" name="Text 4"/>
          <p:cNvSpPr/>
          <p:nvPr/>
        </p:nvSpPr>
        <p:spPr>
          <a:xfrm>
            <a:off x="1600200" y="1709928"/>
            <a:ext cx="3977640" cy="365760"/>
          </a:xfrm>
          <a:prstGeom prst="rect">
            <a:avLst/>
          </a:prstGeom>
          <a:noFill/>
          <a:ln/>
        </p:spPr>
        <p:txBody>
          <a:bodyPr wrap="square" rtlCol="0" anchor="ctr"/>
          <a:lstStyle/>
          <a:p>
            <a:pPr indent="0" marL="0">
              <a:buNone/>
            </a:pPr>
            <a:r>
              <a:rPr lang="en-US" sz="1500" b="1" dirty="0">
                <a:solidFill>
                  <a:srgbClr val="1A2E35"/>
                </a:solidFill>
                <a:latin typeface="Cambria" pitchFamily="34" charset="0"/>
                <a:ea typeface="Cambria" pitchFamily="34" charset="-122"/>
                <a:cs typeface="Cambria" pitchFamily="34" charset="-120"/>
              </a:rPr>
              <a:t>Low User Adoption</a:t>
            </a:r>
            <a:endParaRPr lang="en-US" sz="1500" dirty="0"/>
          </a:p>
        </p:txBody>
      </p:sp>
      <p:sp>
        <p:nvSpPr>
          <p:cNvPr id="8" name="Text 5"/>
          <p:cNvSpPr/>
          <p:nvPr/>
        </p:nvSpPr>
        <p:spPr>
          <a:xfrm>
            <a:off x="1600200" y="2075688"/>
            <a:ext cx="3977640" cy="594360"/>
          </a:xfrm>
          <a:prstGeom prst="rect">
            <a:avLst/>
          </a:prstGeom>
          <a:noFill/>
          <a:ln/>
        </p:spPr>
        <p:txBody>
          <a:bodyPr wrap="square" rtlCol="0" anchor="ctr"/>
          <a:lstStyle/>
          <a:p>
            <a:pPr indent="0" marL="0">
              <a:lnSpc>
                <a:spcPct val="120000"/>
              </a:lnSpc>
              <a:buNone/>
            </a:pPr>
            <a:r>
              <a:rPr lang="en-US" sz="1100" b="1" dirty="0">
                <a:solidFill>
                  <a:srgbClr val="B85042"/>
                </a:solidFill>
                <a:latin typeface="Calibri" pitchFamily="34" charset="0"/>
                <a:ea typeface="Calibri" pitchFamily="34" charset="-122"/>
                <a:cs typeface="Calibri" pitchFamily="34" charset="-120"/>
              </a:rPr>
              <a:t>Risk: </a:t>
            </a:r>
            <a:pPr indent="0" marL="0">
              <a:lnSpc>
                <a:spcPct val="120000"/>
              </a:lnSpc>
              <a:buNone/>
            </a:pPr>
            <a:r>
              <a:rPr lang="en-US" sz="1100" dirty="0">
                <a:solidFill>
                  <a:srgbClr val="5A7178"/>
                </a:solidFill>
                <a:latin typeface="Calibri" pitchFamily="34" charset="0"/>
                <a:ea typeface="Calibri" pitchFamily="34" charset="-122"/>
                <a:cs typeface="Calibri" pitchFamily="34" charset="-120"/>
              </a:rPr>
              <a:t>Platform doesn't reach critical mass; items go unmatched.</a:t>
            </a:r>
            <a:endParaRPr lang="en-US" sz="1100" dirty="0"/>
          </a:p>
        </p:txBody>
      </p:sp>
      <p:sp>
        <p:nvSpPr>
          <p:cNvPr id="9" name="Text 6"/>
          <p:cNvSpPr/>
          <p:nvPr/>
        </p:nvSpPr>
        <p:spPr>
          <a:xfrm>
            <a:off x="804672" y="2788920"/>
            <a:ext cx="4745736" cy="777240"/>
          </a:xfrm>
          <a:prstGeom prst="rect">
            <a:avLst/>
          </a:prstGeom>
          <a:noFill/>
          <a:ln/>
        </p:spPr>
        <p:txBody>
          <a:bodyPr wrap="square" rtlCol="0" anchor="ctr"/>
          <a:lstStyle/>
          <a:p>
            <a:pPr indent="0" marL="0">
              <a:lnSpc>
                <a:spcPct val="120000"/>
              </a:lnSpc>
              <a:buNone/>
            </a:pPr>
            <a:r>
              <a:rPr lang="en-US" sz="1100" b="1" dirty="0">
                <a:solidFill>
                  <a:srgbClr val="028090"/>
                </a:solidFill>
                <a:latin typeface="Calibri" pitchFamily="34" charset="0"/>
                <a:ea typeface="Calibri" pitchFamily="34" charset="-122"/>
                <a:cs typeface="Calibri" pitchFamily="34" charset="-120"/>
              </a:rPr>
              <a:t>Mitigation: </a:t>
            </a:r>
            <a:pPr indent="0" marL="0">
              <a:lnSpc>
                <a:spcPct val="120000"/>
              </a:lnSpc>
              <a:buNone/>
            </a:pPr>
            <a:r>
              <a:rPr lang="en-US" sz="1100" dirty="0">
                <a:solidFill>
                  <a:srgbClr val="1A2E35"/>
                </a:solidFill>
                <a:latin typeface="Calibri" pitchFamily="34" charset="0"/>
                <a:ea typeface="Calibri" pitchFamily="34" charset="-122"/>
                <a:cs typeface="Calibri" pitchFamily="34" charset="-120"/>
              </a:rPr>
              <a:t>Intuitive UI, guest browsing, and partnership with campus security.</a:t>
            </a:r>
            <a:endParaRPr lang="en-US" sz="1100" dirty="0"/>
          </a:p>
        </p:txBody>
      </p:sp>
      <p:sp>
        <p:nvSpPr>
          <p:cNvPr id="10" name="Shape 7"/>
          <p:cNvSpPr/>
          <p:nvPr/>
        </p:nvSpPr>
        <p:spPr>
          <a:xfrm>
            <a:off x="6263640" y="1508760"/>
            <a:ext cx="5257800" cy="2148840"/>
          </a:xfrm>
          <a:prstGeom prst="roundRect">
            <a:avLst>
              <a:gd name="adj" fmla="val 4255"/>
            </a:avLst>
          </a:prstGeom>
          <a:solidFill>
            <a:srgbClr val="F4F9F8"/>
          </a:solidFill>
          <a:ln/>
          <a:effectLst>
            <a:outerShdw sx="100000" sy="100000" kx="0" ky="0" algn="bl" rotWithShape="0" blurRad="101600" dist="38100" dir="5400000">
              <a:srgbClr val="000000">
                <a:alpha val="18000"/>
              </a:srgbClr>
            </a:outerShdw>
          </a:effectLst>
        </p:spPr>
      </p:sp>
      <p:sp>
        <p:nvSpPr>
          <p:cNvPr id="11" name="Shape 8"/>
          <p:cNvSpPr/>
          <p:nvPr/>
        </p:nvSpPr>
        <p:spPr>
          <a:xfrm>
            <a:off x="6519672" y="1764792"/>
            <a:ext cx="640080" cy="640080"/>
          </a:xfrm>
          <a:prstGeom prst="ellipse">
            <a:avLst/>
          </a:prstGeom>
          <a:solidFill>
            <a:srgbClr val="B85042"/>
          </a:solidFill>
          <a:ln/>
        </p:spPr>
      </p:sp>
      <p:pic>
        <p:nvPicPr>
          <p:cNvPr id="12" name="Image 1" descr="icon_fraud.png">    </p:cNvPr>
          <p:cNvPicPr>
            <a:picLocks noChangeAspect="1"/>
          </p:cNvPicPr>
          <p:nvPr/>
        </p:nvPicPr>
        <p:blipFill>
          <a:blip r:embed="rId2"/>
          <a:stretch>
            <a:fillRect/>
          </a:stretch>
        </p:blipFill>
        <p:spPr>
          <a:xfrm>
            <a:off x="6656832" y="1901952"/>
            <a:ext cx="365760" cy="365760"/>
          </a:xfrm>
          <a:prstGeom prst="rect">
            <a:avLst/>
          </a:prstGeom>
        </p:spPr>
      </p:pic>
      <p:sp>
        <p:nvSpPr>
          <p:cNvPr id="13" name="Text 9"/>
          <p:cNvSpPr/>
          <p:nvPr/>
        </p:nvSpPr>
        <p:spPr>
          <a:xfrm>
            <a:off x="7315200" y="1709928"/>
            <a:ext cx="3977640" cy="365760"/>
          </a:xfrm>
          <a:prstGeom prst="rect">
            <a:avLst/>
          </a:prstGeom>
          <a:noFill/>
          <a:ln/>
        </p:spPr>
        <p:txBody>
          <a:bodyPr wrap="square" rtlCol="0" anchor="ctr"/>
          <a:lstStyle/>
          <a:p>
            <a:pPr indent="0" marL="0">
              <a:buNone/>
            </a:pPr>
            <a:r>
              <a:rPr lang="en-US" sz="1500" b="1" dirty="0">
                <a:solidFill>
                  <a:srgbClr val="1A2E35"/>
                </a:solidFill>
                <a:latin typeface="Cambria" pitchFamily="34" charset="0"/>
                <a:ea typeface="Cambria" pitchFamily="34" charset="-122"/>
                <a:cs typeface="Cambria" pitchFamily="34" charset="-120"/>
              </a:rPr>
              <a:t>False Claims / Fraud</a:t>
            </a:r>
            <a:endParaRPr lang="en-US" sz="1500" dirty="0"/>
          </a:p>
        </p:txBody>
      </p:sp>
      <p:sp>
        <p:nvSpPr>
          <p:cNvPr id="14" name="Text 10"/>
          <p:cNvSpPr/>
          <p:nvPr/>
        </p:nvSpPr>
        <p:spPr>
          <a:xfrm>
            <a:off x="7315200" y="2075688"/>
            <a:ext cx="3977640" cy="594360"/>
          </a:xfrm>
          <a:prstGeom prst="rect">
            <a:avLst/>
          </a:prstGeom>
          <a:noFill/>
          <a:ln/>
        </p:spPr>
        <p:txBody>
          <a:bodyPr wrap="square" rtlCol="0" anchor="ctr"/>
          <a:lstStyle/>
          <a:p>
            <a:pPr indent="0" marL="0">
              <a:lnSpc>
                <a:spcPct val="120000"/>
              </a:lnSpc>
              <a:buNone/>
            </a:pPr>
            <a:r>
              <a:rPr lang="en-US" sz="1100" b="1" dirty="0">
                <a:solidFill>
                  <a:srgbClr val="B85042"/>
                </a:solidFill>
                <a:latin typeface="Calibri" pitchFamily="34" charset="0"/>
                <a:ea typeface="Calibri" pitchFamily="34" charset="-122"/>
                <a:cs typeface="Calibri" pitchFamily="34" charset="-120"/>
              </a:rPr>
              <a:t>Risk: </a:t>
            </a:r>
            <a:pPr indent="0" marL="0">
              <a:lnSpc>
                <a:spcPct val="120000"/>
              </a:lnSpc>
              <a:buNone/>
            </a:pPr>
            <a:r>
              <a:rPr lang="en-US" sz="1100" dirty="0">
                <a:solidFill>
                  <a:srgbClr val="5A7178"/>
                </a:solidFill>
                <a:latin typeface="Calibri" pitchFamily="34" charset="0"/>
                <a:ea typeface="Calibri" pitchFamily="34" charset="-122"/>
                <a:cs typeface="Calibri" pitchFamily="34" charset="-120"/>
              </a:rPr>
              <a:t>Users attempt to claim items that aren't theirs.</a:t>
            </a:r>
            <a:endParaRPr lang="en-US" sz="1100" dirty="0"/>
          </a:p>
        </p:txBody>
      </p:sp>
      <p:sp>
        <p:nvSpPr>
          <p:cNvPr id="15" name="Text 11"/>
          <p:cNvSpPr/>
          <p:nvPr/>
        </p:nvSpPr>
        <p:spPr>
          <a:xfrm>
            <a:off x="6519672" y="2788920"/>
            <a:ext cx="4745736" cy="777240"/>
          </a:xfrm>
          <a:prstGeom prst="rect">
            <a:avLst/>
          </a:prstGeom>
          <a:noFill/>
          <a:ln/>
        </p:spPr>
        <p:txBody>
          <a:bodyPr wrap="square" rtlCol="0" anchor="ctr"/>
          <a:lstStyle/>
          <a:p>
            <a:pPr indent="0" marL="0">
              <a:lnSpc>
                <a:spcPct val="120000"/>
              </a:lnSpc>
              <a:buNone/>
            </a:pPr>
            <a:r>
              <a:rPr lang="en-US" sz="1100" b="1" dirty="0">
                <a:solidFill>
                  <a:srgbClr val="028090"/>
                </a:solidFill>
                <a:latin typeface="Calibri" pitchFamily="34" charset="0"/>
                <a:ea typeface="Calibri" pitchFamily="34" charset="-122"/>
                <a:cs typeface="Calibri" pitchFamily="34" charset="-120"/>
              </a:rPr>
              <a:t>Mitigation: </a:t>
            </a:r>
            <a:pPr indent="0" marL="0">
              <a:lnSpc>
                <a:spcPct val="120000"/>
              </a:lnSpc>
              <a:buNone/>
            </a:pPr>
            <a:r>
              <a:rPr lang="en-US" sz="1100" dirty="0">
                <a:solidFill>
                  <a:srgbClr val="1A2E35"/>
                </a:solidFill>
                <a:latin typeface="Calibri" pitchFamily="34" charset="0"/>
                <a:ea typeface="Calibri" pitchFamily="34" charset="-122"/>
                <a:cs typeface="Calibri" pitchFamily="34" charset="-120"/>
              </a:rPr>
              <a:t>Finder-approved claims via hidden identifiers; admin override on disputes.</a:t>
            </a:r>
            <a:endParaRPr lang="en-US" sz="1100" dirty="0"/>
          </a:p>
        </p:txBody>
      </p:sp>
      <p:sp>
        <p:nvSpPr>
          <p:cNvPr id="16" name="Shape 12"/>
          <p:cNvSpPr/>
          <p:nvPr/>
        </p:nvSpPr>
        <p:spPr>
          <a:xfrm>
            <a:off x="548640" y="3931920"/>
            <a:ext cx="5257800" cy="2148840"/>
          </a:xfrm>
          <a:prstGeom prst="roundRect">
            <a:avLst>
              <a:gd name="adj" fmla="val 4255"/>
            </a:avLst>
          </a:prstGeom>
          <a:solidFill>
            <a:srgbClr val="F4F9F8"/>
          </a:solidFill>
          <a:ln/>
          <a:effectLst>
            <a:outerShdw sx="100000" sy="100000" kx="0" ky="0" algn="bl" rotWithShape="0" blurRad="101600" dist="38100" dir="5400000">
              <a:srgbClr val="000000">
                <a:alpha val="18000"/>
              </a:srgbClr>
            </a:outerShdw>
          </a:effectLst>
        </p:spPr>
      </p:sp>
      <p:sp>
        <p:nvSpPr>
          <p:cNvPr id="17" name="Shape 13"/>
          <p:cNvSpPr/>
          <p:nvPr/>
        </p:nvSpPr>
        <p:spPr>
          <a:xfrm>
            <a:off x="804672" y="4187952"/>
            <a:ext cx="640080" cy="640080"/>
          </a:xfrm>
          <a:prstGeom prst="ellipse">
            <a:avLst/>
          </a:prstGeom>
          <a:solidFill>
            <a:srgbClr val="B85042"/>
          </a:solidFill>
          <a:ln/>
        </p:spPr>
      </p:sp>
      <p:pic>
        <p:nvPicPr>
          <p:cNvPr id="18" name="Image 2" descr="icon_privacy.png">    </p:cNvPr>
          <p:cNvPicPr>
            <a:picLocks noChangeAspect="1"/>
          </p:cNvPicPr>
          <p:nvPr/>
        </p:nvPicPr>
        <p:blipFill>
          <a:blip r:embed="rId3"/>
          <a:stretch>
            <a:fillRect/>
          </a:stretch>
        </p:blipFill>
        <p:spPr>
          <a:xfrm>
            <a:off x="941832" y="4325112"/>
            <a:ext cx="365760" cy="365760"/>
          </a:xfrm>
          <a:prstGeom prst="rect">
            <a:avLst/>
          </a:prstGeom>
        </p:spPr>
      </p:pic>
      <p:sp>
        <p:nvSpPr>
          <p:cNvPr id="19" name="Text 14"/>
          <p:cNvSpPr/>
          <p:nvPr/>
        </p:nvSpPr>
        <p:spPr>
          <a:xfrm>
            <a:off x="1600200" y="4133088"/>
            <a:ext cx="3977640" cy="365760"/>
          </a:xfrm>
          <a:prstGeom prst="rect">
            <a:avLst/>
          </a:prstGeom>
          <a:noFill/>
          <a:ln/>
        </p:spPr>
        <p:txBody>
          <a:bodyPr wrap="square" rtlCol="0" anchor="ctr"/>
          <a:lstStyle/>
          <a:p>
            <a:pPr indent="0" marL="0">
              <a:buNone/>
            </a:pPr>
            <a:r>
              <a:rPr lang="en-US" sz="1500" b="1" dirty="0">
                <a:solidFill>
                  <a:srgbClr val="1A2E35"/>
                </a:solidFill>
                <a:latin typeface="Cambria" pitchFamily="34" charset="0"/>
                <a:ea typeface="Cambria" pitchFamily="34" charset="-122"/>
                <a:cs typeface="Cambria" pitchFamily="34" charset="-120"/>
              </a:rPr>
              <a:t>Data Privacy Breach</a:t>
            </a:r>
            <a:endParaRPr lang="en-US" sz="1500" dirty="0"/>
          </a:p>
        </p:txBody>
      </p:sp>
      <p:sp>
        <p:nvSpPr>
          <p:cNvPr id="20" name="Text 15"/>
          <p:cNvSpPr/>
          <p:nvPr/>
        </p:nvSpPr>
        <p:spPr>
          <a:xfrm>
            <a:off x="1600200" y="4498848"/>
            <a:ext cx="3977640" cy="594360"/>
          </a:xfrm>
          <a:prstGeom prst="rect">
            <a:avLst/>
          </a:prstGeom>
          <a:noFill/>
          <a:ln/>
        </p:spPr>
        <p:txBody>
          <a:bodyPr wrap="square" rtlCol="0" anchor="ctr"/>
          <a:lstStyle/>
          <a:p>
            <a:pPr indent="0" marL="0">
              <a:lnSpc>
                <a:spcPct val="120000"/>
              </a:lnSpc>
              <a:buNone/>
            </a:pPr>
            <a:r>
              <a:rPr lang="en-US" sz="1100" b="1" dirty="0">
                <a:solidFill>
                  <a:srgbClr val="B85042"/>
                </a:solidFill>
                <a:latin typeface="Calibri" pitchFamily="34" charset="0"/>
                <a:ea typeface="Calibri" pitchFamily="34" charset="-122"/>
                <a:cs typeface="Calibri" pitchFamily="34" charset="-120"/>
              </a:rPr>
              <a:t>Risk: </a:t>
            </a:r>
            <a:pPr indent="0" marL="0">
              <a:lnSpc>
                <a:spcPct val="120000"/>
              </a:lnSpc>
              <a:buNone/>
            </a:pPr>
            <a:r>
              <a:rPr lang="en-US" sz="1100" dirty="0">
                <a:solidFill>
                  <a:srgbClr val="5A7178"/>
                </a:solidFill>
                <a:latin typeface="Calibri" pitchFamily="34" charset="0"/>
                <a:ea typeface="Calibri" pitchFamily="34" charset="-122"/>
                <a:cs typeface="Calibri" pitchFamily="34" charset="-120"/>
              </a:rPr>
              <a:t>Exposure of user contact information.</a:t>
            </a:r>
            <a:endParaRPr lang="en-US" sz="1100" dirty="0"/>
          </a:p>
        </p:txBody>
      </p:sp>
      <p:sp>
        <p:nvSpPr>
          <p:cNvPr id="21" name="Text 16"/>
          <p:cNvSpPr/>
          <p:nvPr/>
        </p:nvSpPr>
        <p:spPr>
          <a:xfrm>
            <a:off x="804672" y="5212080"/>
            <a:ext cx="4745736" cy="777240"/>
          </a:xfrm>
          <a:prstGeom prst="rect">
            <a:avLst/>
          </a:prstGeom>
          <a:noFill/>
          <a:ln/>
        </p:spPr>
        <p:txBody>
          <a:bodyPr wrap="square" rtlCol="0" anchor="ctr"/>
          <a:lstStyle/>
          <a:p>
            <a:pPr indent="0" marL="0">
              <a:lnSpc>
                <a:spcPct val="120000"/>
              </a:lnSpc>
              <a:buNone/>
            </a:pPr>
            <a:r>
              <a:rPr lang="en-US" sz="1100" b="1" dirty="0">
                <a:solidFill>
                  <a:srgbClr val="028090"/>
                </a:solidFill>
                <a:latin typeface="Calibri" pitchFamily="34" charset="0"/>
                <a:ea typeface="Calibri" pitchFamily="34" charset="-122"/>
                <a:cs typeface="Calibri" pitchFamily="34" charset="-120"/>
              </a:rPr>
              <a:t>Mitigation: </a:t>
            </a:r>
            <a:pPr indent="0" marL="0">
              <a:lnSpc>
                <a:spcPct val="120000"/>
              </a:lnSpc>
              <a:buNone/>
            </a:pPr>
            <a:r>
              <a:rPr lang="en-US" sz="1100" dirty="0">
                <a:solidFill>
                  <a:srgbClr val="1A2E35"/>
                </a:solidFill>
                <a:latin typeface="Calibri" pitchFamily="34" charset="0"/>
                <a:ea typeface="Calibri" pitchFamily="34" charset="-122"/>
                <a:cs typeface="Calibri" pitchFamily="34" charset="-120"/>
              </a:rPr>
              <a:t>Secure password hashing, HTTPS, and in-app messaging until users agree to meet.</a:t>
            </a:r>
            <a:endParaRPr lang="en-US" sz="1100" dirty="0"/>
          </a:p>
        </p:txBody>
      </p:sp>
      <p:sp>
        <p:nvSpPr>
          <p:cNvPr id="22" name="Shape 17"/>
          <p:cNvSpPr/>
          <p:nvPr/>
        </p:nvSpPr>
        <p:spPr>
          <a:xfrm>
            <a:off x="6263640" y="3931920"/>
            <a:ext cx="5257800" cy="2148840"/>
          </a:xfrm>
          <a:prstGeom prst="roundRect">
            <a:avLst>
              <a:gd name="adj" fmla="val 4255"/>
            </a:avLst>
          </a:prstGeom>
          <a:solidFill>
            <a:srgbClr val="F4F9F8"/>
          </a:solidFill>
          <a:ln/>
          <a:effectLst>
            <a:outerShdw sx="100000" sy="100000" kx="0" ky="0" algn="bl" rotWithShape="0" blurRad="101600" dist="38100" dir="5400000">
              <a:srgbClr val="000000">
                <a:alpha val="18000"/>
              </a:srgbClr>
            </a:outerShdw>
          </a:effectLst>
        </p:spPr>
      </p:sp>
      <p:sp>
        <p:nvSpPr>
          <p:cNvPr id="23" name="Shape 18"/>
          <p:cNvSpPr/>
          <p:nvPr/>
        </p:nvSpPr>
        <p:spPr>
          <a:xfrm>
            <a:off x="6519672" y="4187952"/>
            <a:ext cx="640080" cy="640080"/>
          </a:xfrm>
          <a:prstGeom prst="ellipse">
            <a:avLst/>
          </a:prstGeom>
          <a:solidFill>
            <a:srgbClr val="B85042"/>
          </a:solidFill>
          <a:ln/>
        </p:spPr>
      </p:sp>
      <p:pic>
        <p:nvPicPr>
          <p:cNvPr id="24" name="Image 3" descr="icon_perf.png">    </p:cNvPr>
          <p:cNvPicPr>
            <a:picLocks noChangeAspect="1"/>
          </p:cNvPicPr>
          <p:nvPr/>
        </p:nvPicPr>
        <p:blipFill>
          <a:blip r:embed="rId4"/>
          <a:stretch>
            <a:fillRect/>
          </a:stretch>
        </p:blipFill>
        <p:spPr>
          <a:xfrm>
            <a:off x="6656832" y="4325112"/>
            <a:ext cx="365760" cy="365760"/>
          </a:xfrm>
          <a:prstGeom prst="rect">
            <a:avLst/>
          </a:prstGeom>
        </p:spPr>
      </p:pic>
      <p:sp>
        <p:nvSpPr>
          <p:cNvPr id="25" name="Text 19"/>
          <p:cNvSpPr/>
          <p:nvPr/>
        </p:nvSpPr>
        <p:spPr>
          <a:xfrm>
            <a:off x="7315200" y="4133088"/>
            <a:ext cx="3977640" cy="365760"/>
          </a:xfrm>
          <a:prstGeom prst="rect">
            <a:avLst/>
          </a:prstGeom>
          <a:noFill/>
          <a:ln/>
        </p:spPr>
        <p:txBody>
          <a:bodyPr wrap="square" rtlCol="0" anchor="ctr"/>
          <a:lstStyle/>
          <a:p>
            <a:pPr indent="0" marL="0">
              <a:buNone/>
            </a:pPr>
            <a:r>
              <a:rPr lang="en-US" sz="1500" b="1" dirty="0">
                <a:solidFill>
                  <a:srgbClr val="1A2E35"/>
                </a:solidFill>
                <a:latin typeface="Cambria" pitchFamily="34" charset="0"/>
                <a:ea typeface="Cambria" pitchFamily="34" charset="-122"/>
                <a:cs typeface="Cambria" pitchFamily="34" charset="-120"/>
              </a:rPr>
              <a:t>Technical Performance</a:t>
            </a:r>
            <a:endParaRPr lang="en-US" sz="1500" dirty="0"/>
          </a:p>
        </p:txBody>
      </p:sp>
      <p:sp>
        <p:nvSpPr>
          <p:cNvPr id="26" name="Text 20"/>
          <p:cNvSpPr/>
          <p:nvPr/>
        </p:nvSpPr>
        <p:spPr>
          <a:xfrm>
            <a:off x="7315200" y="4498848"/>
            <a:ext cx="3977640" cy="594360"/>
          </a:xfrm>
          <a:prstGeom prst="rect">
            <a:avLst/>
          </a:prstGeom>
          <a:noFill/>
          <a:ln/>
        </p:spPr>
        <p:txBody>
          <a:bodyPr wrap="square" rtlCol="0" anchor="ctr"/>
          <a:lstStyle/>
          <a:p>
            <a:pPr indent="0" marL="0">
              <a:lnSpc>
                <a:spcPct val="120000"/>
              </a:lnSpc>
              <a:buNone/>
            </a:pPr>
            <a:r>
              <a:rPr lang="en-US" sz="1100" b="1" dirty="0">
                <a:solidFill>
                  <a:srgbClr val="B85042"/>
                </a:solidFill>
                <a:latin typeface="Calibri" pitchFamily="34" charset="0"/>
                <a:ea typeface="Calibri" pitchFamily="34" charset="-122"/>
                <a:cs typeface="Calibri" pitchFamily="34" charset="-120"/>
              </a:rPr>
              <a:t>Risk: </a:t>
            </a:r>
            <a:pPr indent="0" marL="0">
              <a:lnSpc>
                <a:spcPct val="120000"/>
              </a:lnSpc>
              <a:buNone/>
            </a:pPr>
            <a:r>
              <a:rPr lang="en-US" sz="1100" dirty="0">
                <a:solidFill>
                  <a:srgbClr val="5A7178"/>
                </a:solidFill>
                <a:latin typeface="Calibri" pitchFamily="34" charset="0"/>
                <a:ea typeface="Calibri" pitchFamily="34" charset="-122"/>
                <a:cs typeface="Calibri" pitchFamily="34" charset="-120"/>
              </a:rPr>
              <a:t>Matching algorithm slows as the database grows.</a:t>
            </a:r>
            <a:endParaRPr lang="en-US" sz="1100" dirty="0"/>
          </a:p>
        </p:txBody>
      </p:sp>
      <p:sp>
        <p:nvSpPr>
          <p:cNvPr id="27" name="Text 21"/>
          <p:cNvSpPr/>
          <p:nvPr/>
        </p:nvSpPr>
        <p:spPr>
          <a:xfrm>
            <a:off x="6519672" y="5212080"/>
            <a:ext cx="4745736" cy="777240"/>
          </a:xfrm>
          <a:prstGeom prst="rect">
            <a:avLst/>
          </a:prstGeom>
          <a:noFill/>
          <a:ln/>
        </p:spPr>
        <p:txBody>
          <a:bodyPr wrap="square" rtlCol="0" anchor="ctr"/>
          <a:lstStyle/>
          <a:p>
            <a:pPr indent="0" marL="0">
              <a:lnSpc>
                <a:spcPct val="120000"/>
              </a:lnSpc>
              <a:buNone/>
            </a:pPr>
            <a:r>
              <a:rPr lang="en-US" sz="1100" b="1" dirty="0">
                <a:solidFill>
                  <a:srgbClr val="028090"/>
                </a:solidFill>
                <a:latin typeface="Calibri" pitchFamily="34" charset="0"/>
                <a:ea typeface="Calibri" pitchFamily="34" charset="-122"/>
                <a:cs typeface="Calibri" pitchFamily="34" charset="-120"/>
              </a:rPr>
              <a:t>Mitigation: </a:t>
            </a:r>
            <a:pPr indent="0" marL="0">
              <a:lnSpc>
                <a:spcPct val="120000"/>
              </a:lnSpc>
              <a:buNone/>
            </a:pPr>
            <a:r>
              <a:rPr lang="en-US" sz="1100" dirty="0">
                <a:solidFill>
                  <a:srgbClr val="1A2E35"/>
                </a:solidFill>
                <a:latin typeface="Calibri" pitchFamily="34" charset="0"/>
                <a:ea typeface="Calibri" pitchFamily="34" charset="-122"/>
                <a:cs typeface="Calibri" pitchFamily="34" charset="-120"/>
              </a:rPr>
              <a:t>Optimized SQL queries, indexing, and asynchronous execution.</a:t>
            </a:r>
            <a:endParaRPr lang="en-US" sz="1100" dirty="0"/>
          </a:p>
        </p:txBody>
      </p:sp>
      <p:sp>
        <p:nvSpPr>
          <p:cNvPr id="28" name="Text 22"/>
          <p:cNvSpPr/>
          <p:nvPr/>
        </p:nvSpPr>
        <p:spPr>
          <a:xfrm>
            <a:off x="457200" y="6473952"/>
            <a:ext cx="4572000" cy="274320"/>
          </a:xfrm>
          <a:prstGeom prst="rect">
            <a:avLst/>
          </a:prstGeom>
          <a:noFill/>
          <a:ln/>
        </p:spPr>
        <p:txBody>
          <a:bodyPr wrap="square" rtlCol="0" anchor="ctr"/>
          <a:lstStyle/>
          <a:p>
            <a:pPr indent="0" marL="0">
              <a:buNone/>
            </a:pPr>
            <a:r>
              <a:rPr lang="en-US" sz="1000" i="1" dirty="0">
                <a:solidFill>
                  <a:srgbClr val="5A7178"/>
                </a:solidFill>
                <a:latin typeface="Calibri" pitchFamily="34" charset="0"/>
                <a:ea typeface="Calibri" pitchFamily="34" charset="-122"/>
                <a:cs typeface="Calibri" pitchFamily="34" charset="-120"/>
              </a:rPr>
              <a:t>FindIt — Project Proposal</a:t>
            </a:r>
            <a:endParaRPr lang="en-US" sz="1000" dirty="0"/>
          </a:p>
        </p:txBody>
      </p:sp>
      <p:sp>
        <p:nvSpPr>
          <p:cNvPr id="29"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35"/>
        </a:solidFill>
      </p:bgPr>
    </p:bg>
    <p:spTree>
      <p:nvGrpSpPr>
        <p:cNvPr id="1" name=""/>
        <p:cNvGrpSpPr/>
        <p:nvPr/>
      </p:nvGrpSpPr>
      <p:grpSpPr>
        <a:xfrm>
          <a:off x="0" y="0"/>
          <a:ext cx="0" cy="0"/>
          <a:chOff x="0" y="0"/>
          <a:chExt cx="0" cy="0"/>
        </a:xfrm>
      </p:grpSpPr>
      <p:sp>
        <p:nvSpPr>
          <p:cNvPr id="2" name="Shape 0"/>
          <p:cNvSpPr/>
          <p:nvPr/>
        </p:nvSpPr>
        <p:spPr>
          <a:xfrm>
            <a:off x="8778240" y="-1828800"/>
            <a:ext cx="6400800" cy="6400800"/>
          </a:xfrm>
          <a:prstGeom prst="ellipse">
            <a:avLst/>
          </a:prstGeom>
          <a:solidFill>
            <a:srgbClr val="028090">
              <a:alpha val="42000"/>
            </a:srgbClr>
          </a:solidFill>
          <a:ln/>
        </p:spPr>
      </p:sp>
      <p:sp>
        <p:nvSpPr>
          <p:cNvPr id="3" name="Shape 1"/>
          <p:cNvSpPr/>
          <p:nvPr/>
        </p:nvSpPr>
        <p:spPr>
          <a:xfrm>
            <a:off x="-1280160" y="4389120"/>
            <a:ext cx="4206240" cy="4206240"/>
          </a:xfrm>
          <a:prstGeom prst="ellipse">
            <a:avLst/>
          </a:prstGeom>
          <a:solidFill>
            <a:srgbClr val="00A896">
              <a:alpha val="35000"/>
            </a:srgbClr>
          </a:solidFill>
          <a:ln/>
        </p:spPr>
      </p:sp>
      <p:sp>
        <p:nvSpPr>
          <p:cNvPr id="4" name="Text 2"/>
          <p:cNvSpPr/>
          <p:nvPr/>
        </p:nvSpPr>
        <p:spPr>
          <a:xfrm>
            <a:off x="640080" y="685800"/>
            <a:ext cx="7315200" cy="5943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Text 3"/>
          <p:cNvSpPr/>
          <p:nvPr/>
        </p:nvSpPr>
        <p:spPr>
          <a:xfrm>
            <a:off x="640080" y="1554480"/>
            <a:ext cx="6949440" cy="1554480"/>
          </a:xfrm>
          <a:prstGeom prst="rect">
            <a:avLst/>
          </a:prstGeom>
          <a:noFill/>
          <a:ln/>
        </p:spPr>
        <p:txBody>
          <a:bodyPr wrap="square" rtlCol="0" anchor="ctr"/>
          <a:lstStyle/>
          <a:p>
            <a:pPr indent="0" marL="0">
              <a:lnSpc>
                <a:spcPct val="130000"/>
              </a:lnSpc>
              <a:buNone/>
            </a:pPr>
            <a:r>
              <a:rPr lang="en-US" sz="1450" dirty="0">
                <a:solidFill>
                  <a:srgbClr val="F4F9F8"/>
                </a:solidFill>
                <a:latin typeface="Calibri" pitchFamily="34" charset="0"/>
                <a:ea typeface="Calibri" pitchFamily="34" charset="-122"/>
                <a:cs typeface="Calibri" pitchFamily="34" charset="-120"/>
              </a:rPr>
              <a:t>FindIt presents a modern, necessary solution to a persistent real-world problem. By moving the lost-and-found process from scattered analog and social-media methods to a centralized, intelligent ASP.NET Core MVC platform, it will drastically improve the odds of reuniting people with their belongings.</a:t>
            </a:r>
            <a:endParaRPr lang="en-US" sz="1450" dirty="0"/>
          </a:p>
        </p:txBody>
      </p:sp>
      <p:sp>
        <p:nvSpPr>
          <p:cNvPr id="6" name="Text 4"/>
          <p:cNvSpPr/>
          <p:nvPr/>
        </p:nvSpPr>
        <p:spPr>
          <a:xfrm>
            <a:off x="640080" y="3154680"/>
            <a:ext cx="6949440" cy="1554480"/>
          </a:xfrm>
          <a:prstGeom prst="rect">
            <a:avLst/>
          </a:prstGeom>
          <a:noFill/>
          <a:ln/>
        </p:spPr>
        <p:txBody>
          <a:bodyPr wrap="square" rtlCol="0" anchor="ctr"/>
          <a:lstStyle/>
          <a:p>
            <a:pPr indent="0" marL="0">
              <a:lnSpc>
                <a:spcPct val="130000"/>
              </a:lnSpc>
              <a:buNone/>
            </a:pPr>
            <a:r>
              <a:rPr lang="en-US" sz="1450" dirty="0">
                <a:solidFill>
                  <a:srgbClr val="F4F9F8"/>
                </a:solidFill>
                <a:latin typeface="Calibri" pitchFamily="34" charset="0"/>
                <a:ea typeface="Calibri" pitchFamily="34" charset="-122"/>
                <a:cs typeface="Calibri" pitchFamily="34" charset="-120"/>
              </a:rPr>
              <a:t>Its smart matching engine and secure claim verification make the system efficient — and built on a foundation of user trust and security. With adequate development and deployment, FindIt has the potential to become an essential utility for universities, offices, and public spaces.</a:t>
            </a:r>
            <a:endParaRPr lang="en-US" sz="1450" dirty="0"/>
          </a:p>
        </p:txBody>
      </p:sp>
      <p:sp>
        <p:nvSpPr>
          <p:cNvPr id="7" name="Shape 5"/>
          <p:cNvSpPr/>
          <p:nvPr/>
        </p:nvSpPr>
        <p:spPr>
          <a:xfrm>
            <a:off x="8229600" y="1645920"/>
            <a:ext cx="3291840" cy="1143000"/>
          </a:xfrm>
          <a:prstGeom prst="roundRect">
            <a:avLst>
              <a:gd name="adj" fmla="val 8000"/>
            </a:avLst>
          </a:prstGeom>
          <a:solidFill>
            <a:srgbClr val="23383F"/>
          </a:solidFill>
          <a:ln/>
        </p:spPr>
      </p:sp>
      <p:sp>
        <p:nvSpPr>
          <p:cNvPr id="8" name="Text 6"/>
          <p:cNvSpPr/>
          <p:nvPr/>
        </p:nvSpPr>
        <p:spPr>
          <a:xfrm>
            <a:off x="8412480" y="1755648"/>
            <a:ext cx="1280160" cy="914400"/>
          </a:xfrm>
          <a:prstGeom prst="rect">
            <a:avLst/>
          </a:prstGeom>
          <a:noFill/>
          <a:ln/>
        </p:spPr>
        <p:txBody>
          <a:bodyPr wrap="square" rtlCol="0" anchor="ctr"/>
          <a:lstStyle/>
          <a:p>
            <a:pPr indent="0" marL="0">
              <a:buNone/>
            </a:pPr>
            <a:r>
              <a:rPr lang="en-US" sz="3400" b="1" dirty="0">
                <a:solidFill>
                  <a:srgbClr val="02C39A"/>
                </a:solidFill>
                <a:latin typeface="Cambria" pitchFamily="34" charset="0"/>
                <a:ea typeface="Cambria" pitchFamily="34" charset="-122"/>
                <a:cs typeface="Cambria" pitchFamily="34" charset="-120"/>
              </a:rPr>
              <a:t>10</a:t>
            </a:r>
            <a:endParaRPr lang="en-US" sz="3400" dirty="0"/>
          </a:p>
        </p:txBody>
      </p:sp>
      <p:sp>
        <p:nvSpPr>
          <p:cNvPr id="9" name="Text 7"/>
          <p:cNvSpPr/>
          <p:nvPr/>
        </p:nvSpPr>
        <p:spPr>
          <a:xfrm>
            <a:off x="9692640" y="1755648"/>
            <a:ext cx="1737360" cy="914400"/>
          </a:xfrm>
          <a:prstGeom prst="rect">
            <a:avLst/>
          </a:prstGeom>
          <a:noFill/>
          <a:ln/>
        </p:spPr>
        <p:txBody>
          <a:bodyPr wrap="square" rtlCol="0" anchor="ctr"/>
          <a:lstStyle/>
          <a:p>
            <a:pPr indent="0" marL="0">
              <a:buNone/>
            </a:pPr>
            <a:r>
              <a:rPr lang="en-US" sz="1300" dirty="0">
                <a:solidFill>
                  <a:srgbClr val="F4F9F8"/>
                </a:solidFill>
                <a:latin typeface="Calibri" pitchFamily="34" charset="0"/>
                <a:ea typeface="Calibri" pitchFamily="34" charset="-122"/>
                <a:cs typeface="Calibri" pitchFamily="34" charset="-120"/>
              </a:rPr>
              <a:t>Week Build</a:t>
            </a:r>
            <a:endParaRPr lang="en-US" sz="1300" dirty="0"/>
          </a:p>
        </p:txBody>
      </p:sp>
      <p:sp>
        <p:nvSpPr>
          <p:cNvPr id="10" name="Shape 8"/>
          <p:cNvSpPr/>
          <p:nvPr/>
        </p:nvSpPr>
        <p:spPr>
          <a:xfrm>
            <a:off x="8229600" y="3063240"/>
            <a:ext cx="3291840" cy="1143000"/>
          </a:xfrm>
          <a:prstGeom prst="roundRect">
            <a:avLst>
              <a:gd name="adj" fmla="val 8000"/>
            </a:avLst>
          </a:prstGeom>
          <a:solidFill>
            <a:srgbClr val="23383F"/>
          </a:solidFill>
          <a:ln/>
        </p:spPr>
      </p:sp>
      <p:sp>
        <p:nvSpPr>
          <p:cNvPr id="11" name="Text 9"/>
          <p:cNvSpPr/>
          <p:nvPr/>
        </p:nvSpPr>
        <p:spPr>
          <a:xfrm>
            <a:off x="8412480" y="3172968"/>
            <a:ext cx="1280160" cy="914400"/>
          </a:xfrm>
          <a:prstGeom prst="rect">
            <a:avLst/>
          </a:prstGeom>
          <a:noFill/>
          <a:ln/>
        </p:spPr>
        <p:txBody>
          <a:bodyPr wrap="square" rtlCol="0" anchor="ctr"/>
          <a:lstStyle/>
          <a:p>
            <a:pPr indent="0" marL="0">
              <a:buNone/>
            </a:pPr>
            <a:r>
              <a:rPr lang="en-US" sz="3400" b="1" dirty="0">
                <a:solidFill>
                  <a:srgbClr val="02C39A"/>
                </a:solidFill>
                <a:latin typeface="Cambria" pitchFamily="34" charset="0"/>
                <a:ea typeface="Cambria" pitchFamily="34" charset="-122"/>
                <a:cs typeface="Cambria" pitchFamily="34" charset="-120"/>
              </a:rPr>
              <a:t>$0</a:t>
            </a:r>
            <a:endParaRPr lang="en-US" sz="3400" dirty="0"/>
          </a:p>
        </p:txBody>
      </p:sp>
      <p:sp>
        <p:nvSpPr>
          <p:cNvPr id="12" name="Text 10"/>
          <p:cNvSpPr/>
          <p:nvPr/>
        </p:nvSpPr>
        <p:spPr>
          <a:xfrm>
            <a:off x="9692640" y="3172968"/>
            <a:ext cx="1737360" cy="914400"/>
          </a:xfrm>
          <a:prstGeom prst="rect">
            <a:avLst/>
          </a:prstGeom>
          <a:noFill/>
          <a:ln/>
        </p:spPr>
        <p:txBody>
          <a:bodyPr wrap="square" rtlCol="0" anchor="ctr"/>
          <a:lstStyle/>
          <a:p>
            <a:pPr indent="0" marL="0">
              <a:buNone/>
            </a:pPr>
            <a:r>
              <a:rPr lang="en-US" sz="1300" dirty="0">
                <a:solidFill>
                  <a:srgbClr val="F4F9F8"/>
                </a:solidFill>
                <a:latin typeface="Calibri" pitchFamily="34" charset="0"/>
                <a:ea typeface="Calibri" pitchFamily="34" charset="-122"/>
                <a:cs typeface="Calibri" pitchFamily="34" charset="-120"/>
              </a:rPr>
              <a:t>Dev Cost</a:t>
            </a:r>
            <a:endParaRPr lang="en-US" sz="1300" dirty="0"/>
          </a:p>
        </p:txBody>
      </p:sp>
      <p:sp>
        <p:nvSpPr>
          <p:cNvPr id="13" name="Shape 11"/>
          <p:cNvSpPr/>
          <p:nvPr/>
        </p:nvSpPr>
        <p:spPr>
          <a:xfrm>
            <a:off x="8229600" y="4480560"/>
            <a:ext cx="3291840" cy="1143000"/>
          </a:xfrm>
          <a:prstGeom prst="roundRect">
            <a:avLst>
              <a:gd name="adj" fmla="val 8000"/>
            </a:avLst>
          </a:prstGeom>
          <a:solidFill>
            <a:srgbClr val="23383F"/>
          </a:solidFill>
          <a:ln/>
        </p:spPr>
      </p:sp>
      <p:sp>
        <p:nvSpPr>
          <p:cNvPr id="14" name="Text 12"/>
          <p:cNvSpPr/>
          <p:nvPr/>
        </p:nvSpPr>
        <p:spPr>
          <a:xfrm>
            <a:off x="8412480" y="4590288"/>
            <a:ext cx="1280160" cy="914400"/>
          </a:xfrm>
          <a:prstGeom prst="rect">
            <a:avLst/>
          </a:prstGeom>
          <a:noFill/>
          <a:ln/>
        </p:spPr>
        <p:txBody>
          <a:bodyPr wrap="square" rtlCol="0" anchor="ctr"/>
          <a:lstStyle/>
          <a:p>
            <a:pPr indent="0" marL="0">
              <a:buNone/>
            </a:pPr>
            <a:r>
              <a:rPr lang="en-US" sz="3400" b="1" dirty="0">
                <a:solidFill>
                  <a:srgbClr val="02C39A"/>
                </a:solidFill>
                <a:latin typeface="Cambria" pitchFamily="34" charset="0"/>
                <a:ea typeface="Cambria" pitchFamily="34" charset="-122"/>
                <a:cs typeface="Cambria" pitchFamily="34" charset="-120"/>
              </a:rPr>
              <a:t>3+</a:t>
            </a:r>
            <a:endParaRPr lang="en-US" sz="3400" dirty="0"/>
          </a:p>
        </p:txBody>
      </p:sp>
      <p:sp>
        <p:nvSpPr>
          <p:cNvPr id="15" name="Text 13"/>
          <p:cNvSpPr/>
          <p:nvPr/>
        </p:nvSpPr>
        <p:spPr>
          <a:xfrm>
            <a:off x="9692640" y="4590288"/>
            <a:ext cx="1737360" cy="914400"/>
          </a:xfrm>
          <a:prstGeom prst="rect">
            <a:avLst/>
          </a:prstGeom>
          <a:noFill/>
          <a:ln/>
        </p:spPr>
        <p:txBody>
          <a:bodyPr wrap="square" rtlCol="0" anchor="ctr"/>
          <a:lstStyle/>
          <a:p>
            <a:pPr indent="0" marL="0">
              <a:buNone/>
            </a:pPr>
            <a:r>
              <a:rPr lang="en-US" sz="1300" dirty="0">
                <a:solidFill>
                  <a:srgbClr val="F4F9F8"/>
                </a:solidFill>
                <a:latin typeface="Calibri" pitchFamily="34" charset="0"/>
                <a:ea typeface="Calibri" pitchFamily="34" charset="-122"/>
                <a:cs typeface="Calibri" pitchFamily="34" charset="-120"/>
              </a:rPr>
              <a:t>Core Modules</a:t>
            </a:r>
            <a:endParaRPr lang="en-US" sz="1300" dirty="0"/>
          </a:p>
        </p:txBody>
      </p:sp>
      <p:sp>
        <p:nvSpPr>
          <p:cNvPr id="16" name="Text 14"/>
          <p:cNvSpPr/>
          <p:nvPr/>
        </p:nvSpPr>
        <p:spPr>
          <a:xfrm>
            <a:off x="640080" y="5989320"/>
            <a:ext cx="5486400" cy="457200"/>
          </a:xfrm>
          <a:prstGeom prst="rect">
            <a:avLst/>
          </a:prstGeom>
          <a:noFill/>
          <a:ln/>
        </p:spPr>
        <p:txBody>
          <a:bodyPr wrap="square" rtlCol="0" anchor="ctr"/>
          <a:lstStyle/>
          <a:p>
            <a:pPr indent="0" marL="0">
              <a:buNone/>
            </a:pPr>
            <a:r>
              <a:rPr lang="en-US" sz="1800" i="1" dirty="0">
                <a:solidFill>
                  <a:srgbClr val="00A896"/>
                </a:solidFill>
                <a:latin typeface="Cambria" pitchFamily="34" charset="0"/>
                <a:ea typeface="Cambria" pitchFamily="34" charset="-122"/>
                <a:cs typeface="Cambria" pitchFamily="34" charset="-120"/>
              </a:rPr>
              <a:t>Thank you</a:t>
            </a:r>
            <a:endParaRPr lang="en-US" sz="1800" dirty="0"/>
          </a:p>
        </p:txBody>
      </p:sp>
      <p:sp>
        <p:nvSpPr>
          <p:cNvPr id="17"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71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2026-08-03T04:00:48Z</dcterms:created>
  <dcterms:modified xsi:type="dcterms:W3CDTF">2026-08-03T04:00:48Z</dcterms:modified>
</cp:coreProperties>
</file>